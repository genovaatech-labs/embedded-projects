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16C4186-608F-DF7A-99EA-EADFADE59D97}">
          <p14:sldIdLst>
            <p14:sldId id="256"/>
            <p14:sldId id="257"/>
            <p14:sldId id="258"/>
            <p14:sldId id="259"/>
            <p14:sldId id="260"/>
            <p14:sldId id="269"/>
          </p14:sldIdLst>
        </p14:section>
        <p14:section name="Proposed System" id="{F157077F-6930-EC99-1093-F04626BB54B0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Literature Survey" id="{BF08D4A2-1473-C45C-8A08-F1417287359E}">
          <p14:sldIdLst>
            <p14:sldId id="270"/>
            <p14:sldId id="271"/>
            <p14:sldId id="272"/>
          </p14:sldIdLst>
        </p14:section>
        <p14:section name="Closing" id="{B5FA4D0A-8D93-4773-4AFE-2CFC05E1DE56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71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and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of current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and six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and hardware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functional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layers from bottom to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data from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interface of the ESP32.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the example: 5 V and 8.33 mA give 600 ohm, which is 3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decision order and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training on the PC, inference on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app's internal flow and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Papers 1 to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Papers 4 to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 of the six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references with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AI-Based Smart Underground Cable Fault Detection and Remote Monitoring  |  MGIT  |  Project Stage 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bg"/>
          <p:cNvSpPr/>
          <p:nvPr/>
        </p:nvSpPr>
        <p:spPr>
          <a:xfrm>
            <a:off x="10744200" y="365760"/>
            <a:ext cx="1005840" cy="129844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logo" descr="MGI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420624"/>
            <a:ext cx="877824" cy="1161288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chemeClr val="accent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PROJECT STAGE I – (CD753PC)   |   VII SEM – CSD</a:t>
            </a:r>
            <a:endParaRPr lang="en-US" sz="16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96012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AI-BASED SMART UNDERGROUND CABLE FAULT DETECTION AND REMOTE MONITORING</a:t>
            </a:r>
            <a:endParaRPr lang="en-US" sz="3400" dirty="0"/>
          </a:p>
        </p:txBody>
      </p:sp>
      <p:sp>
        <p:nvSpPr>
          <p:cNvPr id="6" name="sub"/>
          <p:cNvSpPr txBox="1"/>
          <p:nvPr/>
        </p:nvSpPr>
        <p:spPr>
          <a:xfrm>
            <a:off x="548640" y="2468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ESP32  •  IoT  •  Machine Learning  •  Predictive Maintenance</a:t>
            </a:r>
            <a:endParaRPr lang="en-US" sz="1800" dirty="0"/>
          </a:p>
        </p:txBody>
      </p:sp>
      <p:graphicFrame>
        <p:nvGraphicFramePr>
          <p:cNvPr id="7" name="te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7863840" cy="18288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Student</a:t>
                      </a:r>
                      <a:endParaRPr lang="en-US" sz="16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Roll Number</a:t>
                      </a:r>
                      <a:endParaRPr lang="en-US" sz="16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Name of Supervisor</a:t>
                      </a:r>
                      <a:endParaRPr lang="en-US" sz="16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Deta Jonah Ratan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23261A6717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Ms. A. Swapna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Asst. Professor, Dept. of ET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Madavaram Vineel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24265A6702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Pasnoori Abhinay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24265A6704</a:t>
                      </a:r>
                      <a:endParaRPr lang="en-US" sz="15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icon-bg-1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" descr="F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abs"/>
          <p:cNvSpPr txBox="1"/>
          <p:nvPr/>
        </p:nvSpPr>
        <p:spPr>
          <a:xfrm>
            <a:off x="548640" y="137160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Underground cable faults are hard to locate because cables are buried; conventional methods need manual inspection and excavation.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ESP32 monitors voltage, current and TMP117 temperature on a safe, current-limited cable simulator to detect open and short circuits.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fault distance is estimated from calibrated measurements using Ohm's law; an OLED and buzzer give local alerts.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goes over Wi-Fi to an Android app, where an ML model diagnoses the cable condition and is compared with a baseline algorithm.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Logged trends give a cable health index for early warning and predictive maintenance.</a:t>
            </a:r>
            <a:endParaRPr lang="en-US" sz="1600" dirty="0"/>
          </a:p>
        </p:txBody>
      </p:sp>
      <p:pic>
        <p:nvPicPr>
          <p:cNvPr id="7" name="scene" descr="ESP32 monitoring an underground cable and locating a fa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17320"/>
            <a:ext cx="4526280" cy="3392424"/>
          </a:xfrm>
          <a:prstGeom prst="rect">
            <a:avLst/>
          </a:prstGeom>
        </p:spPr>
      </p:pic>
      <p:sp>
        <p:nvSpPr>
          <p:cNvPr id="8" name="scene-cap"/>
          <p:cNvSpPr txBox="1"/>
          <p:nvPr/>
        </p:nvSpPr>
        <p:spPr>
          <a:xfrm>
            <a:off x="7178040" y="49377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ESP32 monitors the buried cable, locates the fault and reports it to the mobile app.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icon-bg-3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4" descr="Plu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intro"/>
          <p:cNvSpPr txBox="1"/>
          <p:nvPr/>
        </p:nvSpPr>
        <p:spPr>
          <a:xfrm>
            <a:off x="548640" y="1371600"/>
            <a:ext cx="6126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Underground cables give safe and reliable power distribution.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Being buried, their faults are difficult to detect and locate.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faults develop slowly as voltage drop, irregular current or joint heating.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Murray loop and TDR methods need costly equipment and skilled operators.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proposed ESP32 system monitors voltage, current and temperature continuously.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mobile app with ML diagnosis supports early detection and predictive maintenance.</a:t>
            </a:r>
            <a:endParaRPr lang="en-US" sz="1600" dirty="0"/>
          </a:p>
        </p:txBody>
      </p:sp>
      <p:sp>
        <p:nvSpPr>
          <p:cNvPr id="7" name="faults-h"/>
          <p:cNvSpPr txBox="1"/>
          <p:nvPr/>
        </p:nvSpPr>
        <p:spPr>
          <a:xfrm>
            <a:off x="708660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COMMON CABLE FAULTS</a:t>
            </a:r>
            <a:endParaRPr lang="en-US" sz="1500" dirty="0"/>
          </a:p>
        </p:txBody>
      </p:sp>
      <p:sp>
        <p:nvSpPr>
          <p:cNvPr id="8" name="card-5"/>
          <p:cNvSpPr/>
          <p:nvPr/>
        </p:nvSpPr>
        <p:spPr>
          <a:xfrm>
            <a:off x="7086600" y="1783080"/>
            <a:ext cx="2194560" cy="2057400"/>
          </a:xfrm>
          <a:prstGeom prst="roundRect">
            <a:avLst>
              <a:gd name="adj" fmla="val 355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icon-bg-6"/>
          <p:cNvSpPr/>
          <p:nvPr/>
        </p:nvSpPr>
        <p:spPr>
          <a:xfrm>
            <a:off x="7836408" y="1965960"/>
            <a:ext cx="694944" cy="69494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-7" descr="Unlin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093" y="2146645"/>
            <a:ext cx="333573" cy="333573"/>
          </a:xfrm>
          <a:prstGeom prst="rect">
            <a:avLst/>
          </a:prstGeom>
        </p:spPr>
      </p:pic>
      <p:sp>
        <p:nvSpPr>
          <p:cNvPr id="11" name="ft-h-8"/>
          <p:cNvSpPr txBox="1"/>
          <p:nvPr/>
        </p:nvSpPr>
        <p:spPr>
          <a:xfrm>
            <a:off x="717804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Open Circuit</a:t>
            </a:r>
            <a:endParaRPr lang="en-US" sz="1500" dirty="0"/>
          </a:p>
        </p:txBody>
      </p:sp>
      <p:sp>
        <p:nvSpPr>
          <p:cNvPr id="12" name="ft-b-9"/>
          <p:cNvSpPr txBox="1"/>
          <p:nvPr/>
        </p:nvSpPr>
        <p:spPr>
          <a:xfrm>
            <a:off x="722376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Conductor breaks; current stops</a:t>
            </a:r>
            <a:endParaRPr lang="en-US" sz="1300" dirty="0"/>
          </a:p>
        </p:txBody>
      </p:sp>
      <p:sp>
        <p:nvSpPr>
          <p:cNvPr id="13" name="card-10"/>
          <p:cNvSpPr/>
          <p:nvPr/>
        </p:nvSpPr>
        <p:spPr>
          <a:xfrm>
            <a:off x="9418320" y="1783080"/>
            <a:ext cx="2194560" cy="2057400"/>
          </a:xfrm>
          <a:prstGeom prst="roundRect">
            <a:avLst>
              <a:gd name="adj" fmla="val 355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-bg-11"/>
          <p:cNvSpPr/>
          <p:nvPr/>
        </p:nvSpPr>
        <p:spPr>
          <a:xfrm>
            <a:off x="10168128" y="1965960"/>
            <a:ext cx="694944" cy="69494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-12" descr="Bo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8813" y="2146645"/>
            <a:ext cx="333573" cy="333573"/>
          </a:xfrm>
          <a:prstGeom prst="rect">
            <a:avLst/>
          </a:prstGeom>
        </p:spPr>
      </p:pic>
      <p:sp>
        <p:nvSpPr>
          <p:cNvPr id="16" name="ft-h-13"/>
          <p:cNvSpPr txBox="1"/>
          <p:nvPr/>
        </p:nvSpPr>
        <p:spPr>
          <a:xfrm>
            <a:off x="950976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Short Circuit</a:t>
            </a:r>
            <a:endParaRPr lang="en-US" sz="1500" dirty="0"/>
          </a:p>
        </p:txBody>
      </p:sp>
      <p:sp>
        <p:nvSpPr>
          <p:cNvPr id="17" name="ft-b-14"/>
          <p:cNvSpPr txBox="1"/>
          <p:nvPr/>
        </p:nvSpPr>
        <p:spPr>
          <a:xfrm>
            <a:off x="955548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Low-resistance path; high current</a:t>
            </a:r>
            <a:endParaRPr lang="en-US" sz="1300" dirty="0"/>
          </a:p>
        </p:txBody>
      </p:sp>
      <p:sp>
        <p:nvSpPr>
          <p:cNvPr id="18" name="card-15"/>
          <p:cNvSpPr/>
          <p:nvPr/>
        </p:nvSpPr>
        <p:spPr>
          <a:xfrm>
            <a:off x="7086600" y="4023360"/>
            <a:ext cx="2194560" cy="2057400"/>
          </a:xfrm>
          <a:prstGeom prst="roundRect">
            <a:avLst>
              <a:gd name="adj" fmla="val 355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-bg-16"/>
          <p:cNvSpPr/>
          <p:nvPr/>
        </p:nvSpPr>
        <p:spPr>
          <a:xfrm>
            <a:off x="7836408" y="4206240"/>
            <a:ext cx="694944" cy="69494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17" descr="Tachometer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093" y="4386925"/>
            <a:ext cx="333573" cy="333573"/>
          </a:xfrm>
          <a:prstGeom prst="rect">
            <a:avLst/>
          </a:prstGeom>
        </p:spPr>
      </p:pic>
      <p:sp>
        <p:nvSpPr>
          <p:cNvPr id="21" name="ft-h-18"/>
          <p:cNvSpPr txBox="1"/>
          <p:nvPr/>
        </p:nvSpPr>
        <p:spPr>
          <a:xfrm>
            <a:off x="7178040" y="4983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Overcurrent</a:t>
            </a:r>
            <a:endParaRPr lang="en-US" sz="1500" dirty="0"/>
          </a:p>
        </p:txBody>
      </p:sp>
      <p:sp>
        <p:nvSpPr>
          <p:cNvPr id="22" name="ft-b-19"/>
          <p:cNvSpPr txBox="1"/>
          <p:nvPr/>
        </p:nvSpPr>
        <p:spPr>
          <a:xfrm>
            <a:off x="7223760" y="5349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Load beyond safe limit</a:t>
            </a:r>
            <a:endParaRPr lang="en-US" sz="1300" dirty="0"/>
          </a:p>
        </p:txBody>
      </p:sp>
      <p:sp>
        <p:nvSpPr>
          <p:cNvPr id="23" name="card-20"/>
          <p:cNvSpPr/>
          <p:nvPr/>
        </p:nvSpPr>
        <p:spPr>
          <a:xfrm>
            <a:off x="9418320" y="4023360"/>
            <a:ext cx="2194560" cy="2057400"/>
          </a:xfrm>
          <a:prstGeom prst="roundRect">
            <a:avLst>
              <a:gd name="adj" fmla="val 355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icon-bg-21"/>
          <p:cNvSpPr/>
          <p:nvPr/>
        </p:nvSpPr>
        <p:spPr>
          <a:xfrm>
            <a:off x="10168128" y="4206240"/>
            <a:ext cx="694944" cy="69494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con-22" descr="Fir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8813" y="4386925"/>
            <a:ext cx="333573" cy="333573"/>
          </a:xfrm>
          <a:prstGeom prst="rect">
            <a:avLst/>
          </a:prstGeom>
        </p:spPr>
      </p:pic>
      <p:sp>
        <p:nvSpPr>
          <p:cNvPr id="26" name="ft-h-23"/>
          <p:cNvSpPr txBox="1"/>
          <p:nvPr/>
        </p:nvSpPr>
        <p:spPr>
          <a:xfrm>
            <a:off x="9509760" y="4983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Overheating</a:t>
            </a:r>
            <a:endParaRPr lang="en-US" sz="1500" dirty="0"/>
          </a:p>
        </p:txBody>
      </p:sp>
      <p:sp>
        <p:nvSpPr>
          <p:cNvPr id="27" name="ft-b-24"/>
          <p:cNvSpPr txBox="1"/>
          <p:nvPr/>
        </p:nvSpPr>
        <p:spPr>
          <a:xfrm>
            <a:off x="9555480" y="5349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Hot joints and loose terminations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EXISTING SYSTEM</a:t>
            </a:r>
            <a:endParaRPr lang="en-US" sz="3400" dirty="0"/>
          </a:p>
        </p:txBody>
      </p:sp>
      <p:sp>
        <p:nvSpPr>
          <p:cNvPr id="3" name="icon-bg-25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6" descr="Tool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exist"/>
          <p:cNvSpPr txBox="1"/>
          <p:nvPr/>
        </p:nvSpPr>
        <p:spPr>
          <a:xfrm>
            <a:off x="548640" y="1371600"/>
            <a:ext cx="6126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Faults are detected mainly after they occur.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Cables are not monitored continuously or remotely.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Loop tests and TDR instruments are costly and need experts.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Low-cost prototypes detect mostly short circuits using fixed thresholds.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Temperature and cable-health trends are not analysed.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Predictive maintenance capability is very limited.</a:t>
            </a:r>
            <a:endParaRPr lang="en-US" sz="1600" dirty="0"/>
          </a:p>
        </p:txBody>
      </p:sp>
      <p:sp>
        <p:nvSpPr>
          <p:cNvPr id="7" name="impact-h"/>
          <p:cNvSpPr txBox="1"/>
          <p:nvPr/>
        </p:nvSpPr>
        <p:spPr>
          <a:xfrm>
            <a:off x="708660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4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IMPACT</a:t>
            </a:r>
            <a:endParaRPr lang="en-US" sz="1500" dirty="0"/>
          </a:p>
        </p:txBody>
      </p:sp>
      <p:sp>
        <p:nvSpPr>
          <p:cNvPr id="8" name="card-27"/>
          <p:cNvSpPr/>
          <p:nvPr/>
        </p:nvSpPr>
        <p:spPr>
          <a:xfrm>
            <a:off x="7086600" y="1783080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icon-bg-28"/>
          <p:cNvSpPr/>
          <p:nvPr/>
        </p:nvSpPr>
        <p:spPr>
          <a:xfrm>
            <a:off x="7223760" y="1938528"/>
            <a:ext cx="676656" cy="676656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-29" descr="HardHa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691" y="2114459"/>
            <a:ext cx="324795" cy="324795"/>
          </a:xfrm>
          <a:prstGeom prst="rect">
            <a:avLst/>
          </a:prstGeom>
        </p:spPr>
      </p:pic>
      <p:sp>
        <p:nvSpPr>
          <p:cNvPr id="11" name="im-h-30"/>
          <p:cNvSpPr txBox="1"/>
          <p:nvPr/>
        </p:nvSpPr>
        <p:spPr>
          <a:xfrm>
            <a:off x="8046720" y="1892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Manual excavation</a:t>
            </a:r>
            <a:endParaRPr lang="en-US" sz="1500" dirty="0"/>
          </a:p>
        </p:txBody>
      </p:sp>
      <p:sp>
        <p:nvSpPr>
          <p:cNvPr id="12" name="im-b-31"/>
          <p:cNvSpPr txBox="1"/>
          <p:nvPr/>
        </p:nvSpPr>
        <p:spPr>
          <a:xfrm>
            <a:off x="8046720" y="22585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Long stretches dug to find one fault</a:t>
            </a:r>
            <a:endParaRPr lang="en-US" sz="1300" dirty="0"/>
          </a:p>
        </p:txBody>
      </p:sp>
      <p:sp>
        <p:nvSpPr>
          <p:cNvPr id="13" name="card-32"/>
          <p:cNvSpPr/>
          <p:nvPr/>
        </p:nvSpPr>
        <p:spPr>
          <a:xfrm>
            <a:off x="7086600" y="2898648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-bg-33"/>
          <p:cNvSpPr/>
          <p:nvPr/>
        </p:nvSpPr>
        <p:spPr>
          <a:xfrm>
            <a:off x="7223760" y="3054096"/>
            <a:ext cx="676656" cy="676656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-34" descr="Clo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691" y="3230027"/>
            <a:ext cx="324795" cy="324795"/>
          </a:xfrm>
          <a:prstGeom prst="rect">
            <a:avLst/>
          </a:prstGeom>
        </p:spPr>
      </p:pic>
      <p:sp>
        <p:nvSpPr>
          <p:cNvPr id="16" name="im-h-35"/>
          <p:cNvSpPr txBox="1"/>
          <p:nvPr/>
        </p:nvSpPr>
        <p:spPr>
          <a:xfrm>
            <a:off x="8046720" y="30083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Long outages</a:t>
            </a:r>
            <a:endParaRPr lang="en-US" sz="1500" dirty="0"/>
          </a:p>
        </p:txBody>
      </p:sp>
      <p:sp>
        <p:nvSpPr>
          <p:cNvPr id="17" name="im-b-36"/>
          <p:cNvSpPr txBox="1"/>
          <p:nvPr/>
        </p:nvSpPr>
        <p:spPr>
          <a:xfrm>
            <a:off x="8046720" y="33741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Slow location delays restoration</a:t>
            </a:r>
            <a:endParaRPr lang="en-US" sz="1300" dirty="0"/>
          </a:p>
        </p:txBody>
      </p:sp>
      <p:sp>
        <p:nvSpPr>
          <p:cNvPr id="18" name="card-37"/>
          <p:cNvSpPr/>
          <p:nvPr/>
        </p:nvSpPr>
        <p:spPr>
          <a:xfrm>
            <a:off x="7086600" y="4014216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-bg-38"/>
          <p:cNvSpPr/>
          <p:nvPr/>
        </p:nvSpPr>
        <p:spPr>
          <a:xfrm>
            <a:off x="7223760" y="4169664"/>
            <a:ext cx="676656" cy="676656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39" descr="MoneyBillWav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691" y="4345595"/>
            <a:ext cx="324795" cy="324795"/>
          </a:xfrm>
          <a:prstGeom prst="rect">
            <a:avLst/>
          </a:prstGeom>
        </p:spPr>
      </p:pic>
      <p:sp>
        <p:nvSpPr>
          <p:cNvPr id="21" name="im-h-40"/>
          <p:cNvSpPr txBox="1"/>
          <p:nvPr/>
        </p:nvSpPr>
        <p:spPr>
          <a:xfrm>
            <a:off x="8046720" y="4123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High repair cost</a:t>
            </a:r>
            <a:endParaRPr lang="en-US" sz="1500" dirty="0"/>
          </a:p>
        </p:txBody>
      </p:sp>
      <p:sp>
        <p:nvSpPr>
          <p:cNvPr id="22" name="im-b-41"/>
          <p:cNvSpPr txBox="1"/>
          <p:nvPr/>
        </p:nvSpPr>
        <p:spPr>
          <a:xfrm>
            <a:off x="8046720" y="44897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Labour, equipment and road damage</a:t>
            </a:r>
            <a:endParaRPr lang="en-US" sz="1300" dirty="0"/>
          </a:p>
        </p:txBody>
      </p:sp>
      <p:sp>
        <p:nvSpPr>
          <p:cNvPr id="23" name="card-42"/>
          <p:cNvSpPr/>
          <p:nvPr/>
        </p:nvSpPr>
        <p:spPr>
          <a:xfrm>
            <a:off x="7086600" y="5129784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icon-bg-43"/>
          <p:cNvSpPr/>
          <p:nvPr/>
        </p:nvSpPr>
        <p:spPr>
          <a:xfrm>
            <a:off x="7223760" y="5285232"/>
            <a:ext cx="676656" cy="676656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con-44" descr="ExclamationTriang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691" y="5461163"/>
            <a:ext cx="324795" cy="324795"/>
          </a:xfrm>
          <a:prstGeom prst="rect">
            <a:avLst/>
          </a:prstGeom>
        </p:spPr>
      </p:pic>
      <p:sp>
        <p:nvSpPr>
          <p:cNvPr id="26" name="im-h-45"/>
          <p:cNvSpPr txBox="1"/>
          <p:nvPr/>
        </p:nvSpPr>
        <p:spPr>
          <a:xfrm>
            <a:off x="8046720" y="5239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No early warning</a:t>
            </a:r>
            <a:endParaRPr lang="en-US" sz="1500" dirty="0"/>
          </a:p>
        </p:txBody>
      </p:sp>
      <p:sp>
        <p:nvSpPr>
          <p:cNvPr id="27" name="im-b-46"/>
          <p:cNvSpPr txBox="1"/>
          <p:nvPr/>
        </p:nvSpPr>
        <p:spPr>
          <a:xfrm>
            <a:off x="8046720" y="5605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Deterioration goes unnoticed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icon-bg-47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48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ps-box"/>
          <p:cNvSpPr/>
          <p:nvPr/>
        </p:nvSpPr>
        <p:spPr>
          <a:xfrm>
            <a:off x="548640" y="132588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ps"/>
          <p:cNvSpPr txBox="1"/>
          <p:nvPr/>
        </p:nvSpPr>
        <p:spPr>
          <a:xfrm>
            <a:off x="82296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Design a low-cost, safe and intelligent system that detects, locates and diagnoses underground cable faults, and warns of deterioration before failure.</a:t>
            </a:r>
            <a:endParaRPr lang="en-US" sz="1800" dirty="0"/>
          </a:p>
        </p:txBody>
      </p:sp>
      <p:sp>
        <p:nvSpPr>
          <p:cNvPr id="8" name="card-49"/>
          <p:cNvSpPr/>
          <p:nvPr/>
        </p:nvSpPr>
        <p:spPr>
          <a:xfrm>
            <a:off x="548640" y="26060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icon-bg-50"/>
          <p:cNvSpPr/>
          <p:nvPr/>
        </p:nvSpPr>
        <p:spPr>
          <a:xfrm>
            <a:off x="749808" y="28346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-51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3024835"/>
            <a:ext cx="351130" cy="351130"/>
          </a:xfrm>
          <a:prstGeom prst="rect">
            <a:avLst/>
          </a:prstGeom>
        </p:spPr>
      </p:pic>
      <p:sp>
        <p:nvSpPr>
          <p:cNvPr id="11" name="ob-h-52"/>
          <p:cNvSpPr txBox="1"/>
          <p:nvPr/>
        </p:nvSpPr>
        <p:spPr>
          <a:xfrm>
            <a:off x="16459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Detect</a:t>
            </a:r>
            <a:endParaRPr lang="en-US" sz="1700" dirty="0"/>
          </a:p>
        </p:txBody>
      </p:sp>
      <p:sp>
        <p:nvSpPr>
          <p:cNvPr id="12" name="ob-b-53"/>
          <p:cNvSpPr txBox="1"/>
          <p:nvPr/>
        </p:nvSpPr>
        <p:spPr>
          <a:xfrm>
            <a:off x="1645920" y="32644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Classify open-circuit and short-circuit faults</a:t>
            </a:r>
            <a:endParaRPr lang="en-US" sz="1400" dirty="0"/>
          </a:p>
        </p:txBody>
      </p:sp>
      <p:sp>
        <p:nvSpPr>
          <p:cNvPr id="13" name="card-54"/>
          <p:cNvSpPr/>
          <p:nvPr/>
        </p:nvSpPr>
        <p:spPr>
          <a:xfrm>
            <a:off x="4297680" y="26060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-bg-55"/>
          <p:cNvSpPr/>
          <p:nvPr/>
        </p:nvSpPr>
        <p:spPr>
          <a:xfrm>
            <a:off x="4498848" y="28346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-56" descr="RulerHorizonta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043" y="3024835"/>
            <a:ext cx="351130" cy="351130"/>
          </a:xfrm>
          <a:prstGeom prst="rect">
            <a:avLst/>
          </a:prstGeom>
        </p:spPr>
      </p:pic>
      <p:sp>
        <p:nvSpPr>
          <p:cNvPr id="16" name="ob-h-57"/>
          <p:cNvSpPr txBox="1"/>
          <p:nvPr/>
        </p:nvSpPr>
        <p:spPr>
          <a:xfrm>
            <a:off x="539496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Locate</a:t>
            </a:r>
            <a:endParaRPr lang="en-US" sz="1700" dirty="0"/>
          </a:p>
        </p:txBody>
      </p:sp>
      <p:sp>
        <p:nvSpPr>
          <p:cNvPr id="17" name="ob-b-58"/>
          <p:cNvSpPr txBox="1"/>
          <p:nvPr/>
        </p:nvSpPr>
        <p:spPr>
          <a:xfrm>
            <a:off x="5394960" y="32644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 fault distance from calibrated measurements</a:t>
            </a:r>
            <a:endParaRPr lang="en-US" sz="1400" dirty="0"/>
          </a:p>
        </p:txBody>
      </p:sp>
      <p:sp>
        <p:nvSpPr>
          <p:cNvPr id="18" name="card-59"/>
          <p:cNvSpPr/>
          <p:nvPr/>
        </p:nvSpPr>
        <p:spPr>
          <a:xfrm>
            <a:off x="8046720" y="26060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-bg-60"/>
          <p:cNvSpPr/>
          <p:nvPr/>
        </p:nvSpPr>
        <p:spPr>
          <a:xfrm>
            <a:off x="8247888" y="28346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61" descr="ThermometerHalf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083" y="3024835"/>
            <a:ext cx="351130" cy="351130"/>
          </a:xfrm>
          <a:prstGeom prst="rect">
            <a:avLst/>
          </a:prstGeom>
        </p:spPr>
      </p:pic>
      <p:sp>
        <p:nvSpPr>
          <p:cNvPr id="21" name="ob-h-62"/>
          <p:cNvSpPr txBox="1"/>
          <p:nvPr/>
        </p:nvSpPr>
        <p:spPr>
          <a:xfrm>
            <a:off x="914400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Monitor</a:t>
            </a:r>
            <a:endParaRPr lang="en-US" sz="1700" dirty="0"/>
          </a:p>
        </p:txBody>
      </p:sp>
      <p:sp>
        <p:nvSpPr>
          <p:cNvPr id="22" name="ob-b-63"/>
          <p:cNvSpPr txBox="1"/>
          <p:nvPr/>
        </p:nvSpPr>
        <p:spPr>
          <a:xfrm>
            <a:off x="9144000" y="32644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Track voltage, current and temperature continuously</a:t>
            </a:r>
            <a:endParaRPr lang="en-US" sz="1400" dirty="0"/>
          </a:p>
        </p:txBody>
      </p:sp>
      <p:sp>
        <p:nvSpPr>
          <p:cNvPr id="23" name="card-64"/>
          <p:cNvSpPr/>
          <p:nvPr/>
        </p:nvSpPr>
        <p:spPr>
          <a:xfrm>
            <a:off x="548640" y="44348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icon-bg-65"/>
          <p:cNvSpPr/>
          <p:nvPr/>
        </p:nvSpPr>
        <p:spPr>
          <a:xfrm>
            <a:off x="749808" y="46634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con-66" descr="Brai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" y="4853635"/>
            <a:ext cx="351130" cy="351130"/>
          </a:xfrm>
          <a:prstGeom prst="rect">
            <a:avLst/>
          </a:prstGeom>
        </p:spPr>
      </p:pic>
      <p:sp>
        <p:nvSpPr>
          <p:cNvPr id="26" name="ob-h-67"/>
          <p:cNvSpPr txBox="1"/>
          <p:nvPr/>
        </p:nvSpPr>
        <p:spPr>
          <a:xfrm>
            <a:off x="1645920" y="4663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Diagnose</a:t>
            </a:r>
            <a:endParaRPr lang="en-US" sz="1700" dirty="0"/>
          </a:p>
        </p:txBody>
      </p:sp>
      <p:sp>
        <p:nvSpPr>
          <p:cNvPr id="27" name="ob-b-68"/>
          <p:cNvSpPr txBox="1"/>
          <p:nvPr/>
        </p:nvSpPr>
        <p:spPr>
          <a:xfrm>
            <a:off x="1645920" y="50932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Apply ML and compare with a baseline algorithm</a:t>
            </a:r>
            <a:endParaRPr lang="en-US" sz="1400" dirty="0"/>
          </a:p>
        </p:txBody>
      </p:sp>
      <p:sp>
        <p:nvSpPr>
          <p:cNvPr id="28" name="card-69"/>
          <p:cNvSpPr/>
          <p:nvPr/>
        </p:nvSpPr>
        <p:spPr>
          <a:xfrm>
            <a:off x="4297680" y="44348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icon-bg-70"/>
          <p:cNvSpPr/>
          <p:nvPr/>
        </p:nvSpPr>
        <p:spPr>
          <a:xfrm>
            <a:off x="4498848" y="46634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con-71" descr="Mobile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043" y="4853635"/>
            <a:ext cx="351130" cy="351130"/>
          </a:xfrm>
          <a:prstGeom prst="rect">
            <a:avLst/>
          </a:prstGeom>
        </p:spPr>
      </p:pic>
      <p:sp>
        <p:nvSpPr>
          <p:cNvPr id="31" name="ob-h-72"/>
          <p:cNvSpPr txBox="1"/>
          <p:nvPr/>
        </p:nvSpPr>
        <p:spPr>
          <a:xfrm>
            <a:off x="5394960" y="4663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Alert</a:t>
            </a:r>
            <a:endParaRPr lang="en-US" sz="1700" dirty="0"/>
          </a:p>
        </p:txBody>
      </p:sp>
      <p:sp>
        <p:nvSpPr>
          <p:cNvPr id="32" name="ob-b-73"/>
          <p:cNvSpPr txBox="1"/>
          <p:nvPr/>
        </p:nvSpPr>
        <p:spPr>
          <a:xfrm>
            <a:off x="5394960" y="50932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Show live data and alerts on app, OLED and buzzer</a:t>
            </a:r>
            <a:endParaRPr lang="en-US" sz="1400" dirty="0"/>
          </a:p>
        </p:txBody>
      </p:sp>
      <p:sp>
        <p:nvSpPr>
          <p:cNvPr id="33" name="card-74"/>
          <p:cNvSpPr/>
          <p:nvPr/>
        </p:nvSpPr>
        <p:spPr>
          <a:xfrm>
            <a:off x="8046720" y="44348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icon-bg-75"/>
          <p:cNvSpPr/>
          <p:nvPr/>
        </p:nvSpPr>
        <p:spPr>
          <a:xfrm>
            <a:off x="8247888" y="46634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con-76" descr="ChartLin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083" y="4853635"/>
            <a:ext cx="351130" cy="351130"/>
          </a:xfrm>
          <a:prstGeom prst="rect">
            <a:avLst/>
          </a:prstGeom>
        </p:spPr>
      </p:pic>
      <p:sp>
        <p:nvSpPr>
          <p:cNvPr id="36" name="ob-h-77"/>
          <p:cNvSpPr txBox="1"/>
          <p:nvPr/>
        </p:nvSpPr>
        <p:spPr>
          <a:xfrm>
            <a:off x="9144000" y="4663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Predict</a:t>
            </a:r>
            <a:endParaRPr lang="en-US" sz="1700" dirty="0"/>
          </a:p>
        </p:txBody>
      </p:sp>
      <p:sp>
        <p:nvSpPr>
          <p:cNvPr id="37" name="ob-b-78"/>
          <p:cNvSpPr txBox="1"/>
          <p:nvPr/>
        </p:nvSpPr>
        <p:spPr>
          <a:xfrm>
            <a:off x="9144000" y="50932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 events and analyse trends for maintenance</a:t>
            </a:r>
            <a:endParaRPr lang="en-US" sz="14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REQUIREMENTS SPECIFICATION</a:t>
            </a:r>
            <a:endParaRPr lang="en-US" sz="3400" dirty="0"/>
          </a:p>
        </p:txBody>
      </p:sp>
      <p:sp>
        <p:nvSpPr>
          <p:cNvPr id="3" name="icon-bg-220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21" descr="Laptop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icon-bg-22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con-223" descr="Laptop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8" name="sw-h"/>
          <p:cNvSpPr txBox="1"/>
          <p:nvPr/>
        </p:nvSpPr>
        <p:spPr>
          <a:xfrm>
            <a:off x="118872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Software</a:t>
            </a:r>
            <a:endParaRPr lang="en-US" sz="1900" dirty="0"/>
          </a:p>
        </p:txBody>
      </p:sp>
      <p:graphicFrame>
        <p:nvGraphicFramePr>
          <p:cNvPr id="15" name="s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40680" cy="38039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Item</a:t>
                      </a:r>
                      <a:endParaRPr lang="en-US" sz="15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Specification</a:t>
                      </a:r>
                      <a:endParaRPr lang="en-US" sz="15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OS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Windows 10/11 or Ubuntu 20.04+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Firmware IDE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Arduino IDE / PlatformIO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App IDE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Android Studio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Languages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Embedded C/C++, Kotlin/Java, Python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ML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Scikit-learn, TensorFlow Lite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Protocol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Wi-Fi (MQTT / HTTP)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Database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SQLite / Firebase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icon-bg-224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con-225" descr="Microchi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679" y="1456639"/>
            <a:ext cx="241402" cy="241402"/>
          </a:xfrm>
          <a:prstGeom prst="rect">
            <a:avLst/>
          </a:prstGeom>
        </p:spPr>
      </p:pic>
      <p:sp>
        <p:nvSpPr>
          <p:cNvPr id="12" name="hw-h"/>
          <p:cNvSpPr txBox="1"/>
          <p:nvPr/>
        </p:nvSpPr>
        <p:spPr>
          <a:xfrm>
            <a:off x="685800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Hardware</a:t>
            </a:r>
            <a:endParaRPr lang="en-US" sz="1900" dirty="0"/>
          </a:p>
        </p:txBody>
      </p:sp>
      <p:graphicFrame>
        <p:nvGraphicFramePr>
          <p:cNvPr id="29" name="h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440680" cy="38039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Component</a:t>
                      </a:r>
                      <a:endParaRPr lang="en-US" sz="15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Specification</a:t>
                      </a:r>
                      <a:endParaRPr lang="en-US" sz="15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Controller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ESP32 (dual-core, Wi-Fi)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Voltage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Calibrated voltage dividers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Current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INA219 / ACS712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Temperature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TMP117 (I2C)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Display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OLED SSD1306 (I2C)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Alerts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Buzzer and status LEDs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Power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5V / 12V DC, current-limited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PROPOSED SYSTEM &amp; METHODOLOGY</a:t>
            </a:r>
            <a:endParaRPr lang="en-US" sz="3400" dirty="0"/>
          </a:p>
        </p:txBody>
      </p:sp>
      <p:sp>
        <p:nvSpPr>
          <p:cNvPr id="3" name="icon-bg-79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80" descr="Cog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card-81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icon-bg-82"/>
          <p:cNvSpPr/>
          <p:nvPr/>
        </p:nvSpPr>
        <p:spPr>
          <a:xfrm>
            <a:off x="777240" y="160020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con-83" descr="Pl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1814170"/>
            <a:ext cx="395021" cy="395021"/>
          </a:xfrm>
          <a:prstGeom prst="rect">
            <a:avLst/>
          </a:prstGeom>
        </p:spPr>
      </p:pic>
      <p:sp>
        <p:nvSpPr>
          <p:cNvPr id="9" name="u-h-84"/>
          <p:cNvSpPr txBox="1"/>
          <p:nvPr/>
        </p:nvSpPr>
        <p:spPr>
          <a:xfrm>
            <a:off x="178308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Sensing &amp; Fault Simulation</a:t>
            </a:r>
            <a:endParaRPr lang="en-US" sz="1800" dirty="0"/>
          </a:p>
        </p:txBody>
      </p:sp>
      <p:sp>
        <p:nvSpPr>
          <p:cNvPr id="10" name="u-b-85"/>
          <p:cNvSpPr txBox="1"/>
          <p:nvPr/>
        </p:nvSpPr>
        <p:spPr>
          <a:xfrm>
            <a:off x="1783080" y="217627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Cable simulator with resistor sections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Fault switches for open / short circuits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Voltage, current and TMP117 sensors</a:t>
            </a:r>
            <a:endParaRPr lang="en-US" sz="1500" dirty="0"/>
          </a:p>
        </p:txBody>
      </p:sp>
      <p:sp>
        <p:nvSpPr>
          <p:cNvPr id="11" name="card-86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icon-bg-87"/>
          <p:cNvSpPr/>
          <p:nvPr/>
        </p:nvSpPr>
        <p:spPr>
          <a:xfrm>
            <a:off x="6400800" y="160020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con-88" descr="Microchi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70" y="1814170"/>
            <a:ext cx="395021" cy="395021"/>
          </a:xfrm>
          <a:prstGeom prst="rect">
            <a:avLst/>
          </a:prstGeom>
        </p:spPr>
      </p:pic>
      <p:sp>
        <p:nvSpPr>
          <p:cNvPr id="14" name="u-h-89"/>
          <p:cNvSpPr txBox="1"/>
          <p:nvPr/>
        </p:nvSpPr>
        <p:spPr>
          <a:xfrm>
            <a:off x="740664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ESP32 Processing</a:t>
            </a:r>
            <a:endParaRPr lang="en-US" sz="1800" dirty="0"/>
          </a:p>
        </p:txBody>
      </p:sp>
      <p:sp>
        <p:nvSpPr>
          <p:cNvPr id="15" name="u-b-90"/>
          <p:cNvSpPr txBox="1"/>
          <p:nvPr/>
        </p:nvSpPr>
        <p:spPr>
          <a:xfrm>
            <a:off x="7406640" y="217627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Filtering and calibration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Baseline fault detection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Ohm's-law distance estimation</a:t>
            </a:r>
            <a:endParaRPr lang="en-US" sz="1500" dirty="0"/>
          </a:p>
        </p:txBody>
      </p:sp>
      <p:sp>
        <p:nvSpPr>
          <p:cNvPr id="16" name="card-91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icon-bg-92"/>
          <p:cNvSpPr/>
          <p:nvPr/>
        </p:nvSpPr>
        <p:spPr>
          <a:xfrm>
            <a:off x="777240" y="406908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con-93" descr="Wifi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10" y="4283050"/>
            <a:ext cx="395021" cy="395021"/>
          </a:xfrm>
          <a:prstGeom prst="rect">
            <a:avLst/>
          </a:prstGeom>
        </p:spPr>
      </p:pic>
      <p:sp>
        <p:nvSpPr>
          <p:cNvPr id="19" name="u-h-94"/>
          <p:cNvSpPr txBox="1"/>
          <p:nvPr/>
        </p:nvSpPr>
        <p:spPr>
          <a:xfrm>
            <a:off x="178308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Communication &amp; Local Alerts</a:t>
            </a:r>
            <a:endParaRPr lang="en-US" sz="1800" dirty="0"/>
          </a:p>
        </p:txBody>
      </p:sp>
      <p:sp>
        <p:nvSpPr>
          <p:cNvPr id="20" name="u-b-95"/>
          <p:cNvSpPr txBox="1"/>
          <p:nvPr/>
        </p:nvSpPr>
        <p:spPr>
          <a:xfrm>
            <a:off x="1783080" y="464515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Wi-Fi using MQTT / HTTP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OLED display, buzzer and LEDs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Timestamped data packets</a:t>
            </a:r>
            <a:endParaRPr lang="en-US" sz="1500" dirty="0"/>
          </a:p>
        </p:txBody>
      </p:sp>
      <p:sp>
        <p:nvSpPr>
          <p:cNvPr id="21" name="card-96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icon-bg-97"/>
          <p:cNvSpPr/>
          <p:nvPr/>
        </p:nvSpPr>
        <p:spPr>
          <a:xfrm>
            <a:off x="6400800" y="406908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con-98" descr="Mobile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70" y="4283050"/>
            <a:ext cx="395021" cy="395021"/>
          </a:xfrm>
          <a:prstGeom prst="rect">
            <a:avLst/>
          </a:prstGeom>
        </p:spPr>
      </p:pic>
      <p:sp>
        <p:nvSpPr>
          <p:cNvPr id="24" name="u-h-99"/>
          <p:cNvSpPr txBox="1"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Mobile App &amp; ML</a:t>
            </a:r>
            <a:endParaRPr lang="en-US" sz="1800" dirty="0"/>
          </a:p>
        </p:txBody>
      </p:sp>
      <p:sp>
        <p:nvSpPr>
          <p:cNvPr id="25" name="u-b-100"/>
          <p:cNvSpPr txBox="1"/>
          <p:nvPr/>
        </p:nvSpPr>
        <p:spPr>
          <a:xfrm>
            <a:off x="7406640" y="464515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Background ML diagnosis (TFLite)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Dashboard, graphs and alerts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Event log and health index</a:t>
            </a:r>
            <a:endParaRPr lang="en-US" sz="15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icon-bg-101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102" descr="Sitema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103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104" descr="Layered system archite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105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106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107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108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Sensing layer reads voltage, current and temperature from the cable simulator.</a:t>
            </a:r>
            <a:endParaRPr lang="en-US" sz="1400" dirty="0"/>
          </a:p>
        </p:txBody>
      </p:sp>
      <p:sp>
        <p:nvSpPr>
          <p:cNvPr id="12" name="num-109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110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111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Processing layer on the ESP32 filters data, detects faults and estimates distance.</a:t>
            </a:r>
            <a:endParaRPr lang="en-US" sz="1400" dirty="0"/>
          </a:p>
        </p:txBody>
      </p:sp>
      <p:sp>
        <p:nvSpPr>
          <p:cNvPr id="15" name="num-112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113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114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Communication layer sends data over Wi-Fi and drives the OLED, buzzer and LEDs.</a:t>
            </a:r>
            <a:endParaRPr lang="en-US" sz="1400" dirty="0"/>
          </a:p>
        </p:txBody>
      </p:sp>
      <p:sp>
        <p:nvSpPr>
          <p:cNvPr id="18" name="num-115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116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117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 layer runs ML diagnosis, the dashboard, alerts and the health index.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DATA FLOW</a:t>
            </a:r>
            <a:endParaRPr lang="en-US" sz="3400" dirty="0"/>
          </a:p>
        </p:txBody>
      </p:sp>
      <p:sp>
        <p:nvSpPr>
          <p:cNvPr id="3" name="icon-bg-118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119" descr="Sitema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120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121" descr="Data flow of the proposed syst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122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123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124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125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Cable simulator and sensors feed live readings to the ESP32.</a:t>
            </a:r>
            <a:endParaRPr lang="en-US" sz="1400" dirty="0"/>
          </a:p>
        </p:txBody>
      </p:sp>
      <p:sp>
        <p:nvSpPr>
          <p:cNvPr id="12" name="num-126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127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128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ESP32 processes data, detects faults, estimates distance and packages results.</a:t>
            </a:r>
            <a:endParaRPr lang="en-US" sz="1400" dirty="0"/>
          </a:p>
        </p:txBody>
      </p:sp>
      <p:sp>
        <p:nvSpPr>
          <p:cNvPr id="15" name="num-129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130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131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Outputs go to the app over Wi-Fi, and locally to the OLED, buzzer and LEDs.</a:t>
            </a:r>
            <a:endParaRPr lang="en-US" sz="1400" dirty="0"/>
          </a:p>
        </p:txBody>
      </p:sp>
      <p:sp>
        <p:nvSpPr>
          <p:cNvPr id="18" name="num-132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133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134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mobile app runs ML diagnosis and logs every reading and fault event.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HARDWARE BLOCK DIAGRAM</a:t>
            </a:r>
            <a:endParaRPr lang="en-US" sz="3400" dirty="0"/>
          </a:p>
        </p:txBody>
      </p:sp>
      <p:sp>
        <p:nvSpPr>
          <p:cNvPr id="3" name="icon-bg-135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136" descr="Microchi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137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138" descr="Hardware block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139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140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141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142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ESP32 is the central controller with dual-core processing and built-in Wi-Fi.</a:t>
            </a:r>
            <a:endParaRPr lang="en-US" sz="1400" dirty="0"/>
          </a:p>
        </p:txBody>
      </p:sp>
      <p:sp>
        <p:nvSpPr>
          <p:cNvPr id="12" name="num-143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144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145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Voltage sensors use the ADC; INA219 and TMP117 use the I2C bus.</a:t>
            </a:r>
            <a:endParaRPr lang="en-US" sz="1400" dirty="0"/>
          </a:p>
        </p:txBody>
      </p:sp>
      <p:sp>
        <p:nvSpPr>
          <p:cNvPr id="15" name="num-146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147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148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OLED uses I2C, while the buzzer and status LEDs use GPIO pins.</a:t>
            </a:r>
            <a:endParaRPr lang="en-US" sz="1400" dirty="0"/>
          </a:p>
        </p:txBody>
      </p:sp>
      <p:sp>
        <p:nvSpPr>
          <p:cNvPr id="18" name="num-149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150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151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current-limited 5V / 12V supply powers the system and simulator.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FAULT DISTANCE ESTIMATION</a:t>
            </a:r>
            <a:endParaRPr lang="en-US" sz="3400" dirty="0"/>
          </a:p>
        </p:txBody>
      </p:sp>
      <p:sp>
        <p:nvSpPr>
          <p:cNvPr id="3" name="icon-bg-152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153" descr="RulerHorizonta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154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155" descr="Cable simulator and fault distance esti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156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157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158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159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1 km section is a 100 Ω resistor in both line and return conductors.</a:t>
            </a:r>
            <a:endParaRPr lang="en-US" sz="1400" dirty="0"/>
          </a:p>
        </p:txBody>
      </p:sp>
      <p:sp>
        <p:nvSpPr>
          <p:cNvPr id="12" name="num-160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161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162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Closing switch SWk creates a short circuit at k km.</a:t>
            </a:r>
            <a:endParaRPr lang="en-US" sz="1400" dirty="0"/>
          </a:p>
        </p:txBody>
      </p:sp>
      <p:sp>
        <p:nvSpPr>
          <p:cNvPr id="15" name="num-163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164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165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Loop resistance is measured as R = Vs / I at the sending end.</a:t>
            </a:r>
            <a:endParaRPr lang="en-US" sz="1400" dirty="0"/>
          </a:p>
        </p:txBody>
      </p:sp>
      <p:sp>
        <p:nvSpPr>
          <p:cNvPr id="18" name="num-166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167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168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 = R / (2 × R per km); e.g. 600 Ω gives 3 km.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FAULT DETECTION ALGORITHM</a:t>
            </a:r>
            <a:endParaRPr lang="en-US" sz="3400" dirty="0"/>
          </a:p>
        </p:txBody>
      </p:sp>
      <p:sp>
        <p:nvSpPr>
          <p:cNvPr id="3" name="icon-bg-169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170" descr="Shield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171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172" descr="Baseline fault detect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173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174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175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176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cycle reads filtered and calibrated Vs, VL, I and T.</a:t>
            </a:r>
            <a:endParaRPr lang="en-US" sz="1400" dirty="0"/>
          </a:p>
        </p:txBody>
      </p:sp>
      <p:sp>
        <p:nvSpPr>
          <p:cNvPr id="12" name="num-177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178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179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Checks run in order: short circuit, open circuit, voltage drop, overheating.</a:t>
            </a:r>
            <a:endParaRPr lang="en-US" sz="1400" dirty="0"/>
          </a:p>
        </p:txBody>
      </p:sp>
      <p:sp>
        <p:nvSpPr>
          <p:cNvPr id="15" name="num-180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181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182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Faults trigger the buzzer, LEDs and OLED status update.</a:t>
            </a:r>
            <a:endParaRPr lang="en-US" sz="1400" dirty="0"/>
          </a:p>
        </p:txBody>
      </p:sp>
      <p:sp>
        <p:nvSpPr>
          <p:cNvPr id="18" name="num-183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184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185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cycle sends a data packet to the app, then waits for the next sample.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MACHINE LEARNING PIPELINE</a:t>
            </a:r>
            <a:endParaRPr lang="en-US" sz="3400" dirty="0"/>
          </a:p>
        </p:txBody>
      </p:sp>
      <p:sp>
        <p:nvSpPr>
          <p:cNvPr id="3" name="icon-bg-186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187" descr="Bra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188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189" descr="Machine learning pipe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190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191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192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193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Labelled sensor data is collected under all normal and fault conditions.</a:t>
            </a:r>
            <a:endParaRPr lang="en-US" sz="1400" dirty="0"/>
          </a:p>
        </p:txBody>
      </p:sp>
      <p:sp>
        <p:nvSpPr>
          <p:cNvPr id="12" name="num-194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195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196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Features such as ΔV, R, dI/dt and dT/dt train DT, RF and NN models.</a:t>
            </a:r>
            <a:endParaRPr lang="en-US" sz="1400" dirty="0"/>
          </a:p>
        </p:txBody>
      </p:sp>
      <p:sp>
        <p:nvSpPr>
          <p:cNvPr id="15" name="num-197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198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199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best model is evaluated and exported to TensorFlow Lite.</a:t>
            </a:r>
            <a:endParaRPr lang="en-US" sz="1400" dirty="0"/>
          </a:p>
        </p:txBody>
      </p:sp>
      <p:sp>
        <p:nvSpPr>
          <p:cNvPr id="18" name="num-200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201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202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app runs it in the background and compares it with the baseline.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MOBILE APPLICATION</a:t>
            </a:r>
            <a:endParaRPr lang="en-US" sz="3400" dirty="0"/>
          </a:p>
        </p:txBody>
      </p:sp>
      <p:sp>
        <p:nvSpPr>
          <p:cNvPr id="3" name="icon-bg-203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04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frame-205"/>
          <p:cNvSpPr/>
          <p:nvPr/>
        </p:nvSpPr>
        <p:spPr>
          <a:xfrm>
            <a:off x="457200" y="1353312"/>
            <a:ext cx="7818120" cy="4477703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figure-206" descr="Mobile application and predictive health monitor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7635240" cy="4294822"/>
          </a:xfrm>
          <a:prstGeom prst="rect">
            <a:avLst/>
          </a:prstGeom>
        </p:spPr>
      </p:pic>
      <p:sp>
        <p:nvSpPr>
          <p:cNvPr id="8" name="kp-h-207"/>
          <p:cNvSpPr txBox="1"/>
          <p:nvPr/>
        </p:nvSpPr>
        <p:spPr>
          <a:xfrm>
            <a:off x="85039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chemeClr val="accent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num-208"/>
          <p:cNvSpPr/>
          <p:nvPr/>
        </p:nvSpPr>
        <p:spPr>
          <a:xfrm>
            <a:off x="8503920" y="18013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-t-209"/>
          <p:cNvSpPr txBox="1"/>
          <p:nvPr/>
        </p:nvSpPr>
        <p:spPr>
          <a:xfrm>
            <a:off x="8503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kp-210"/>
          <p:cNvSpPr txBox="1"/>
          <p:nvPr/>
        </p:nvSpPr>
        <p:spPr>
          <a:xfrm>
            <a:off x="9006840" y="174650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receiver gets ESP32 readings via MQTT / HTTP.</a:t>
            </a:r>
            <a:endParaRPr lang="en-US" sz="1400" dirty="0"/>
          </a:p>
        </p:txBody>
      </p:sp>
      <p:sp>
        <p:nvSpPr>
          <p:cNvPr id="12" name="num-211"/>
          <p:cNvSpPr/>
          <p:nvPr/>
        </p:nvSpPr>
        <p:spPr>
          <a:xfrm>
            <a:off x="8503920" y="2916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-t-212"/>
          <p:cNvSpPr txBox="1"/>
          <p:nvPr/>
        </p:nvSpPr>
        <p:spPr>
          <a:xfrm>
            <a:off x="8503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kp-213"/>
          <p:cNvSpPr txBox="1"/>
          <p:nvPr/>
        </p:nvSpPr>
        <p:spPr>
          <a:xfrm>
            <a:off x="9006840" y="2862072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ML service predicts the fault type with a confidence score.</a:t>
            </a:r>
            <a:endParaRPr lang="en-US" sz="1400" dirty="0"/>
          </a:p>
        </p:txBody>
      </p:sp>
      <p:sp>
        <p:nvSpPr>
          <p:cNvPr id="15" name="num-214"/>
          <p:cNvSpPr/>
          <p:nvPr/>
        </p:nvSpPr>
        <p:spPr>
          <a:xfrm>
            <a:off x="8503920" y="40325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-t-215"/>
          <p:cNvSpPr txBox="1"/>
          <p:nvPr/>
        </p:nvSpPr>
        <p:spPr>
          <a:xfrm>
            <a:off x="850392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kp-216"/>
          <p:cNvSpPr txBox="1"/>
          <p:nvPr/>
        </p:nvSpPr>
        <p:spPr>
          <a:xfrm>
            <a:off x="9006840" y="3977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SQLite stores readings and events for trend analysis.</a:t>
            </a:r>
            <a:endParaRPr lang="en-US" sz="1400" dirty="0"/>
          </a:p>
        </p:txBody>
      </p:sp>
      <p:sp>
        <p:nvSpPr>
          <p:cNvPr id="18" name="num-217"/>
          <p:cNvSpPr/>
          <p:nvPr/>
        </p:nvSpPr>
        <p:spPr>
          <a:xfrm>
            <a:off x="8503920" y="514807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-t-218"/>
          <p:cNvSpPr txBox="1"/>
          <p:nvPr/>
        </p:nvSpPr>
        <p:spPr>
          <a:xfrm>
            <a:off x="8503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kp-219"/>
          <p:cNvSpPr txBox="1"/>
          <p:nvPr/>
        </p:nvSpPr>
        <p:spPr>
          <a:xfrm>
            <a:off x="9006840" y="5093208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Health index (0–100) and alerts appear on four app screens.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icon-bg-226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27" descr="Boo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card-228"/>
          <p:cNvSpPr/>
          <p:nvPr/>
        </p:nvSpPr>
        <p:spPr>
          <a:xfrm>
            <a:off x="548640" y="1325880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icon-bg-229"/>
          <p:cNvSpPr/>
          <p:nvPr/>
        </p:nvSpPr>
        <p:spPr>
          <a:xfrm>
            <a:off x="749808" y="1709928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con-230" descr="Clou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1900123"/>
            <a:ext cx="351130" cy="351130"/>
          </a:xfrm>
          <a:prstGeom prst="rect">
            <a:avLst/>
          </a:prstGeom>
        </p:spPr>
      </p:pic>
      <p:sp>
        <p:nvSpPr>
          <p:cNvPr id="9" name="lit-a-231"/>
          <p:cNvSpPr txBox="1"/>
          <p:nvPr/>
        </p:nvSpPr>
        <p:spPr>
          <a:xfrm>
            <a:off x="1691640" y="1444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[1] S. K. Satyanarayana &amp; S. N. Chandra Shekhar (2024)</a:t>
            </a:r>
            <a:endParaRPr lang="en-US" sz="1600" dirty="0"/>
          </a:p>
        </p:txBody>
      </p:sp>
      <p:sp>
        <p:nvSpPr>
          <p:cNvPr id="10" name="lit-t-232"/>
          <p:cNvSpPr txBox="1"/>
          <p:nvPr/>
        </p:nvSpPr>
        <p:spPr>
          <a:xfrm>
            <a:off x="1691640" y="178308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Underground Cable Fault Detection Using IoT — IEEE ICCCNT</a:t>
            </a:r>
            <a:endParaRPr lang="en-US" sz="1400" dirty="0"/>
          </a:p>
        </p:txBody>
      </p:sp>
      <p:sp>
        <p:nvSpPr>
          <p:cNvPr id="11" name="lit-s-233"/>
          <p:cNvSpPr txBox="1"/>
          <p:nvPr/>
        </p:nvSpPr>
        <p:spPr>
          <a:xfrm>
            <a:off x="1691640" y="2130552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Arduino, current sensing, ADC, relays, LCD and Wi-Fi cloud storage detect and locate short-circuit faults with remote monitoring.</a:t>
            </a:r>
            <a:endParaRPr lang="en-US" sz="1400" dirty="0"/>
          </a:p>
        </p:txBody>
      </p:sp>
      <p:sp>
        <p:nvSpPr>
          <p:cNvPr id="12" name="card-234"/>
          <p:cNvSpPr/>
          <p:nvPr/>
        </p:nvSpPr>
        <p:spPr>
          <a:xfrm>
            <a:off x="548640" y="2990088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icon-bg-235"/>
          <p:cNvSpPr/>
          <p:nvPr/>
        </p:nvSpPr>
        <p:spPr>
          <a:xfrm>
            <a:off x="749808" y="3374136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con-236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3564331"/>
            <a:ext cx="351130" cy="351130"/>
          </a:xfrm>
          <a:prstGeom prst="rect">
            <a:avLst/>
          </a:prstGeom>
        </p:spPr>
      </p:pic>
      <p:sp>
        <p:nvSpPr>
          <p:cNvPr id="15" name="lit-a-237"/>
          <p:cNvSpPr txBox="1"/>
          <p:nvPr/>
        </p:nvSpPr>
        <p:spPr>
          <a:xfrm>
            <a:off x="1691640" y="310896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[2] M. Jayachandran, K. N. Abdul Rani &amp; A. Abd Wahab (2024)</a:t>
            </a:r>
            <a:endParaRPr lang="en-US" sz="1600" dirty="0"/>
          </a:p>
        </p:txBody>
      </p:sp>
      <p:sp>
        <p:nvSpPr>
          <p:cNvPr id="16" name="lit-t-238"/>
          <p:cNvSpPr txBox="1"/>
          <p:nvPr/>
        </p:nvSpPr>
        <p:spPr>
          <a:xfrm>
            <a:off x="1691640" y="34472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IoT-Based Smart Underground Cable Fault Detector — IEEE ICoCET</a:t>
            </a:r>
            <a:endParaRPr lang="en-US" sz="1400" dirty="0"/>
          </a:p>
        </p:txBody>
      </p:sp>
      <p:sp>
        <p:nvSpPr>
          <p:cNvPr id="17" name="lit-s-239"/>
          <p:cNvSpPr txBox="1"/>
          <p:nvPr/>
        </p:nvSpPr>
        <p:spPr>
          <a:xfrm>
            <a:off x="1691640" y="379476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Stores fault-zone information in a cloud database for remote access; ML prediction is proposed as future work.</a:t>
            </a:r>
            <a:endParaRPr lang="en-US" sz="1400" dirty="0"/>
          </a:p>
        </p:txBody>
      </p:sp>
      <p:sp>
        <p:nvSpPr>
          <p:cNvPr id="18" name="card-240"/>
          <p:cNvSpPr/>
          <p:nvPr/>
        </p:nvSpPr>
        <p:spPr>
          <a:xfrm>
            <a:off x="548640" y="4654296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-bg-241"/>
          <p:cNvSpPr/>
          <p:nvPr/>
        </p:nvSpPr>
        <p:spPr>
          <a:xfrm>
            <a:off x="749808" y="5038344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242" descr="Microchi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" y="5228539"/>
            <a:ext cx="351130" cy="351130"/>
          </a:xfrm>
          <a:prstGeom prst="rect">
            <a:avLst/>
          </a:prstGeom>
        </p:spPr>
      </p:pic>
      <p:sp>
        <p:nvSpPr>
          <p:cNvPr id="21" name="lit-a-243"/>
          <p:cNvSpPr txBox="1"/>
          <p:nvPr/>
        </p:nvSpPr>
        <p:spPr>
          <a:xfrm>
            <a:off x="1691640" y="477316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[3] S. Jegadeesan et al. (2026)</a:t>
            </a:r>
            <a:endParaRPr lang="en-US" sz="1600" dirty="0"/>
          </a:p>
        </p:txBody>
      </p:sp>
      <p:sp>
        <p:nvSpPr>
          <p:cNvPr id="22" name="lit-t-244"/>
          <p:cNvSpPr txBox="1"/>
          <p:nvPr/>
        </p:nvSpPr>
        <p:spPr>
          <a:xfrm>
            <a:off x="1691640" y="511149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ESP32-Driven Fault Detection and Self-Isolating Power Distribution — IEEE ICVADV</a:t>
            </a:r>
            <a:endParaRPr lang="en-US" sz="1400" dirty="0"/>
          </a:p>
        </p:txBody>
      </p:sp>
      <p:sp>
        <p:nvSpPr>
          <p:cNvPr id="23" name="lit-s-245"/>
          <p:cNvSpPr txBox="1"/>
          <p:nvPr/>
        </p:nvSpPr>
        <p:spPr>
          <a:xfrm>
            <a:off x="1691640" y="545896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ESP32 with V/I sensors classifies faults by thresholds, isolates the faulty section via relays, and reports through GPS and an IoT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icon-bg-246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47" descr="Boo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card-248"/>
          <p:cNvSpPr/>
          <p:nvPr/>
        </p:nvSpPr>
        <p:spPr>
          <a:xfrm>
            <a:off x="548640" y="1325880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icon-bg-249"/>
          <p:cNvSpPr/>
          <p:nvPr/>
        </p:nvSpPr>
        <p:spPr>
          <a:xfrm>
            <a:off x="749808" y="1709928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con-250" descr="HardHa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1900123"/>
            <a:ext cx="351130" cy="351130"/>
          </a:xfrm>
          <a:prstGeom prst="rect">
            <a:avLst/>
          </a:prstGeom>
        </p:spPr>
      </p:pic>
      <p:sp>
        <p:nvSpPr>
          <p:cNvPr id="9" name="lit-a-251"/>
          <p:cNvSpPr txBox="1"/>
          <p:nvPr/>
        </p:nvSpPr>
        <p:spPr>
          <a:xfrm>
            <a:off x="1691640" y="1444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[4] K. H. Ali et al. (2022)</a:t>
            </a:r>
            <a:endParaRPr lang="en-US" sz="1600" dirty="0"/>
          </a:p>
        </p:txBody>
      </p:sp>
      <p:sp>
        <p:nvSpPr>
          <p:cNvPr id="10" name="lit-t-252"/>
          <p:cNvSpPr txBox="1"/>
          <p:nvPr/>
        </p:nvSpPr>
        <p:spPr>
          <a:xfrm>
            <a:off x="1691640" y="178308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Industry Practice Guide for LV Underground Cable Fault-Finding — IEEE Access</a:t>
            </a:r>
            <a:endParaRPr lang="en-US" sz="1400" dirty="0"/>
          </a:p>
        </p:txBody>
      </p:sp>
      <p:sp>
        <p:nvSpPr>
          <p:cNvPr id="11" name="lit-s-253"/>
          <p:cNvSpPr txBox="1"/>
          <p:nvPr/>
        </p:nvSpPr>
        <p:spPr>
          <a:xfrm>
            <a:off x="1691640" y="2130552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Analyses practical techniques and procedures utilities use to pre-locate and pinpoint low-voltage cable faults.</a:t>
            </a:r>
            <a:endParaRPr lang="en-US" sz="1400" dirty="0"/>
          </a:p>
        </p:txBody>
      </p:sp>
      <p:sp>
        <p:nvSpPr>
          <p:cNvPr id="12" name="card-254"/>
          <p:cNvSpPr/>
          <p:nvPr/>
        </p:nvSpPr>
        <p:spPr>
          <a:xfrm>
            <a:off x="548640" y="2990088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icon-bg-255"/>
          <p:cNvSpPr/>
          <p:nvPr/>
        </p:nvSpPr>
        <p:spPr>
          <a:xfrm>
            <a:off x="749808" y="3374136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con-256" descr="Bra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3564331"/>
            <a:ext cx="351130" cy="351130"/>
          </a:xfrm>
          <a:prstGeom prst="rect">
            <a:avLst/>
          </a:prstGeom>
        </p:spPr>
      </p:pic>
      <p:sp>
        <p:nvSpPr>
          <p:cNvPr id="15" name="lit-a-257"/>
          <p:cNvSpPr txBox="1"/>
          <p:nvPr/>
        </p:nvSpPr>
        <p:spPr>
          <a:xfrm>
            <a:off x="1691640" y="310896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[5] Said et al. (2022)</a:t>
            </a:r>
            <a:endParaRPr lang="en-US" sz="1600" dirty="0"/>
          </a:p>
        </p:txBody>
      </p:sp>
      <p:sp>
        <p:nvSpPr>
          <p:cNvPr id="16" name="lit-t-258"/>
          <p:cNvSpPr txBox="1"/>
          <p:nvPr/>
        </p:nvSpPr>
        <p:spPr>
          <a:xfrm>
            <a:off x="1691640" y="34472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Deep Learning-Based Fault Classification and Location — IEEE Access</a:t>
            </a:r>
            <a:endParaRPr lang="en-US" sz="1400" dirty="0"/>
          </a:p>
        </p:txBody>
      </p:sp>
      <p:sp>
        <p:nvSpPr>
          <p:cNvPr id="17" name="lit-s-259"/>
          <p:cNvSpPr txBox="1"/>
          <p:nvPr/>
        </p:nvSpPr>
        <p:spPr>
          <a:xfrm>
            <a:off x="1691640" y="379476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1D-CNN with a binary SVM classifies and locates faults in simulated 11 kV underground cables with high accuracy.</a:t>
            </a:r>
            <a:endParaRPr lang="en-US" sz="1400" dirty="0"/>
          </a:p>
        </p:txBody>
      </p:sp>
      <p:sp>
        <p:nvSpPr>
          <p:cNvPr id="18" name="card-260"/>
          <p:cNvSpPr/>
          <p:nvPr/>
        </p:nvSpPr>
        <p:spPr>
          <a:xfrm>
            <a:off x="548640" y="4654296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  <a:effectLst>
            <a:outerShdw blurRad="63500" dist="19050" dir="5400000" algn="bl" rotWithShape="0">
              <a:srgbClr val="0B1F3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-bg-261"/>
          <p:cNvSpPr/>
          <p:nvPr/>
        </p:nvSpPr>
        <p:spPr>
          <a:xfrm>
            <a:off x="749808" y="5038344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262" descr="Boo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5228539"/>
            <a:ext cx="351130" cy="351130"/>
          </a:xfrm>
          <a:prstGeom prst="rect">
            <a:avLst/>
          </a:prstGeom>
        </p:spPr>
      </p:pic>
      <p:sp>
        <p:nvSpPr>
          <p:cNvPr id="21" name="lit-a-263"/>
          <p:cNvSpPr txBox="1"/>
          <p:nvPr/>
        </p:nvSpPr>
        <p:spPr>
          <a:xfrm>
            <a:off x="1691640" y="477316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[6] Q. Shao et al. (2025)</a:t>
            </a:r>
            <a:endParaRPr lang="en-US" sz="1600" dirty="0"/>
          </a:p>
        </p:txBody>
      </p:sp>
      <p:sp>
        <p:nvSpPr>
          <p:cNvPr id="22" name="lit-t-264"/>
          <p:cNvSpPr txBox="1"/>
          <p:nvPr/>
        </p:nvSpPr>
        <p:spPr>
          <a:xfrm>
            <a:off x="1691640" y="511149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AI in Cable Fault Detection and Localization — Energies (MDPI)</a:t>
            </a:r>
            <a:endParaRPr lang="en-US" sz="1400" dirty="0"/>
          </a:p>
        </p:txBody>
      </p:sp>
      <p:sp>
        <p:nvSpPr>
          <p:cNvPr id="23" name="lit-s-265"/>
          <p:cNvSpPr txBox="1"/>
          <p:nvPr/>
        </p:nvSpPr>
        <p:spPr>
          <a:xfrm>
            <a:off x="1691640" y="545896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Reviews ML and deep-learning methods for cable faults and highlights data-scarcity and validation challenges.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COMPARISON OF EXISTING WORK</a:t>
            </a:r>
            <a:endParaRPr lang="en-US" sz="3400" dirty="0"/>
          </a:p>
        </p:txBody>
      </p:sp>
      <p:sp>
        <p:nvSpPr>
          <p:cNvPr id="3" name="icon-bg-266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67" descr="ChartLi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graphicFrame>
        <p:nvGraphicFramePr>
          <p:cNvPr id="18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78231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Authors</a:t>
                      </a:r>
                      <a:endParaRPr lang="en-US" sz="13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Title</a:t>
                      </a:r>
                      <a:endParaRPr lang="en-US" sz="13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Publication / Year</a:t>
                      </a:r>
                      <a:endParaRPr lang="en-US" sz="13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Methodology</a:t>
                      </a:r>
                      <a:endParaRPr lang="en-US" sz="13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Advantages</a:t>
                      </a:r>
                      <a:endParaRPr lang="en-US" sz="13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hnschrift SemiBold" pitchFamily="34" charset="0"/>
                          <a:ea typeface="Bahnschrift SemiBold" pitchFamily="34" charset="-122"/>
                          <a:cs typeface="Bahnschrift SemiBold" pitchFamily="34" charset="-120"/>
                        </a:rPr>
                        <a:t>Disadvantages</a:t>
                      </a:r>
                      <a:endParaRPr lang="en-US" sz="1300" dirty="0">
                        <a:latin typeface="Bahnschrift SemiBold" charset="0"/>
                        <a:ea typeface="Bahnschrift SemiBold" charset="0"/>
                        <a:cs typeface="Bahnschrift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S. K. Satyanarayana &amp; S. N. Chandra Shekhar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Underground Cable Fault Detection Using IoT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IEEE ICCCNT, 2024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Arduino, current sensing, relay, LCD, Wi-Fi cloud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Low cost; remote monitoring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Short circuits only; no ML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M. Jayachandran et al.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IoT-Based Smart Underground Cable Fault Detector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IEEE ICoCET, 2024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IoT detector with cloud fault-zone records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Fault history in cloud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ML only proposed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S. Jegadeesan et al.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ESP32-Driven Fault Detection and Self-Isolating Framework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IEEE ICVADV, 2026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ESP32, V/I sensors, relays, GPS, IoT dashboard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Auto isolation; real-time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Threshold-based; no temperature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K. H. Ali et al.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Industry Practice Guide for LV Cable Fault-Finding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IEEE Access, 2022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Analysis of field fault-finding procedures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Practical industry guidance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Manual; not automated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Said et al.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Deep Learning-Based Fault Classification and Location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IEEE Access, 2022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1D-CNN + binary SVM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High accuracy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Simulation; heavy compute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Q. Shao et al.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AI in Cable Fault Detection and Localization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Energies (MDPI), 2025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Review of ML and DL methods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Broad AI overview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hardware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icon-bg-268"/>
          <p:cNvSpPr/>
          <p:nvPr/>
        </p:nvSpPr>
        <p:spPr>
          <a:xfrm>
            <a:off x="10927080" y="3200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-269" descr="Lin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162" y="522122"/>
            <a:ext cx="373075" cy="373075"/>
          </a:xfrm>
          <a:prstGeom prst="rect">
            <a:avLst/>
          </a:prstGeom>
        </p:spPr>
      </p:pic>
      <p:sp>
        <p:nvSpPr>
          <p:cNvPr id="6" name="refs"/>
          <p:cNvSpPr txBox="1"/>
          <p:nvPr/>
        </p:nvSpPr>
        <p:spPr>
          <a:xfrm>
            <a:off x="548640" y="1371600"/>
            <a:ext cx="11109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[1] S. K. Satyanarayana and S. N. Chandra Shekhar, “Underground Cable Fault Detection Using IoT,” IEEE ICCCNT, 2024. doi:10.1109/ICCCNT61001.2024.10726118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[2] M. Jayachandran, K. N. Abdul Rani and A. Abd Wahab, “IoT-Based Smart Underground Cable Fault Detector,” IEEE ICoCET, 2024. doi:10.1109/ICoCET63343.2024.10730067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[3] S. Jegadeesan et al., “An Intelligent ESP32-Driven Underground Cable Fault Detection and Self-Isolating Power Distribution Framework,” IEEE ICVADV, 2026. doi:10.1109/ICVADV67766.2026.11470434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[4] K. H. Ali, A. A. Aboushady, S. Bradley, M. E. Farrag and S. A. Abdel Maksoud, “An Industry Practice Guide for Underground Cable Fault-Finding in the Low Voltage Distribution Network,” IEEE Access, 2022. doi:10.1109/ACCESS.2022.3186352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[5] Said et al., “Deep Learning-Based Fault Classification and Location for Underground Power Cable of Nuclear Facilities,” IEEE Access, 2022. ieeexplore.ieee.org/document/9810250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[6] Q. Shao, S. Fan, Z. Zhang, F. Liu, Z. Fu, P. Lv and Z. Mu, “Artificial Intelligence in Cable Fault Detection and Localization: Recent Advances and Research Challenges,” Energies, 2025. doi:10.3390/en18143662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270"/>
          <p:cNvSpPr/>
          <p:nvPr/>
        </p:nvSpPr>
        <p:spPr>
          <a:xfrm>
            <a:off x="5641848" y="86868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con-271" descr="Bo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106424"/>
            <a:ext cx="438912" cy="438912"/>
          </a:xfrm>
          <a:prstGeom prst="rect">
            <a:avLst/>
          </a:prstGeom>
        </p:spPr>
      </p:pic>
      <p:sp>
        <p:nvSpPr>
          <p:cNvPr id="4" name="thanks"/>
          <p:cNvSpPr txBox="1"/>
          <p:nvPr/>
        </p:nvSpPr>
        <p:spPr>
          <a:xfrm>
            <a:off x="548640" y="1920240"/>
            <a:ext cx="11109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q"/>
          <p:cNvSpPr txBox="1"/>
          <p:nvPr/>
        </p:nvSpPr>
        <p:spPr>
          <a:xfrm>
            <a:off x="548640" y="31089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Questions and suggestions are welcome</a:t>
            </a:r>
            <a:endParaRPr lang="en-US" sz="2000" dirty="0"/>
          </a:p>
        </p:txBody>
      </p:sp>
      <p:sp>
        <p:nvSpPr>
          <p:cNvPr id="6" name="credits"/>
          <p:cNvSpPr txBox="1"/>
          <p:nvPr/>
        </p:nvSpPr>
        <p:spPr>
          <a:xfrm>
            <a:off x="548640" y="393192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3E6"/>
                </a:solidFill>
              </a:rPr>
              <a:t>Deta Jonah Ratan  •  Madavaram Vineel  •  Pasnoori Abhinay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9D3E6"/>
                </a:solidFill>
              </a:rPr>
              <a:t>Guide: Ms. A. Swapna, Asst. Professor, Dept. of ET, MGIT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derground Cable Fault">
  <a:themeElements>
    <a:clrScheme name="Underground Cable Fault">
      <a:dk1>
        <a:srgbClr val="14213D"/>
      </a:dk1>
      <a:lt1>
        <a:srgbClr val="FFFFFF"/>
      </a:lt1>
      <a:dk2>
        <a:srgbClr val="0B1F3A"/>
      </a:dk2>
      <a:lt2>
        <a:srgbClr val="EEF3F9"/>
      </a:lt2>
      <a:accent1>
        <a:srgbClr val="F5A623"/>
      </a:accent1>
      <a:accent2>
        <a:srgbClr val="1F6AA5"/>
      </a:accent2>
      <a:accent3>
        <a:srgbClr val="2EC4B6"/>
      </a:accent3>
      <a:accent4>
        <a:srgbClr val="E8453C"/>
      </a:accent4>
      <a:accent5>
        <a:srgbClr val="6D28D9"/>
      </a:accent5>
      <a:accent6>
        <a:srgbClr val="7A8699"/>
      </a:accent6>
      <a:hlink>
        <a:srgbClr val="1F6AA5"/>
      </a:hlink>
      <a:folHlink>
        <a:srgbClr val="6D28D9"/>
      </a:folHlink>
    </a:clrScheme>
    <a:fontScheme name="Underground Cable Fault">
      <a:majorFont>
        <a:latin typeface="Bahnschrift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hnschrif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1999</Words>
  <Application>Microsoft Office PowerPoint</Application>
  <PresentationFormat>Widescreen</PresentationFormat>
  <Paragraphs>318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Bahnschrift</vt:lpstr>
      <vt:lpstr>Bahnschrift SemiBold</vt:lpstr>
      <vt:lpstr>Underground Cable Fault</vt:lpstr>
      <vt:lpstr>PowerPoint Presentation</vt:lpstr>
      <vt:lpstr>ABSTRACT</vt:lpstr>
      <vt:lpstr>INTRODUCTION</vt:lpstr>
      <vt:lpstr>EXISTING SYSTEM</vt:lpstr>
      <vt:lpstr>PROBLEM STATEMENT &amp; OBJECTIVES</vt:lpstr>
      <vt:lpstr>REQUIREMENTS SPECIFICATION</vt:lpstr>
      <vt:lpstr>PROPOSED SYSTEM &amp; METHODOLOGY</vt:lpstr>
      <vt:lpstr>SYSTEM ARCHITECTURE</vt:lpstr>
      <vt:lpstr>DATA FLOW</vt:lpstr>
      <vt:lpstr>HARDWARE BLOCK DIAGRAM</vt:lpstr>
      <vt:lpstr>FAULT DISTANCE ESTIMATION</vt:lpstr>
      <vt:lpstr>FAULT DETECTION ALGORITHM</vt:lpstr>
      <vt:lpstr>MACHINE LEARNING PIPELINE</vt:lpstr>
      <vt:lpstr>MOBILE APPLICATION</vt:lpstr>
      <vt:lpstr>LITERATURE SURVEY</vt:lpstr>
      <vt:lpstr>LITERATURE SURVEY</vt:lpstr>
      <vt:lpstr>COMPARISON OF EXISTING WORK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Underground Cable Fault Detection and Remote Monitoring</dc:title>
  <dc:subject>Project Stage I (CD753PC)</dc:subject>
  <dc:creator>Deta Jonah Ratan, Madavaram Vineel, Pasnoori Abhinay</dc:creator>
  <cp:lastModifiedBy>K Yugandhar</cp:lastModifiedBy>
  <cp:revision>3</cp:revision>
  <dcterms:created xsi:type="dcterms:W3CDTF">2026-10-26T14:45:04Z</dcterms:created>
  <dcterms:modified xsi:type="dcterms:W3CDTF">2026-10-26T15:09:42Z</dcterms:modified>
</cp:coreProperties>
</file>