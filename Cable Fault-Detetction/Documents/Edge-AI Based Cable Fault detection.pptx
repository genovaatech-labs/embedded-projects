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836" y="6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7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8B32-6120-4B98-A332-15E25788AE5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09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51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5668" y="6386169"/>
            <a:ext cx="206502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00" b="1" spc="-10" dirty="0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 dirty="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sz="750" b="1" spc="-20" dirty="0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 dirty="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668" y="1142238"/>
            <a:ext cx="108394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20" dirty="0">
                <a:solidFill>
                  <a:srgbClr val="00BEFF"/>
                </a:solidFill>
                <a:latin typeface="Aptos"/>
                <a:cs typeface="Aptos"/>
              </a:rPr>
              <a:t>PROJECT</a:t>
            </a:r>
            <a:r>
              <a:rPr sz="1250" b="1" dirty="0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sz="1250" b="1" spc="-10" dirty="0">
                <a:solidFill>
                  <a:srgbClr val="00BEFF"/>
                </a:solidFill>
                <a:latin typeface="Aptos"/>
                <a:cs typeface="Aptos"/>
              </a:rPr>
              <a:t>TITLE</a:t>
            </a:r>
            <a:endParaRPr sz="1250" dirty="0">
              <a:latin typeface="Aptos"/>
              <a:cs typeface="Apto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5695" y="1581911"/>
            <a:ext cx="131114" cy="1919942"/>
            <a:chOff x="615695" y="1581911"/>
            <a:chExt cx="131114" cy="1919942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695" y="1605071"/>
              <a:ext cx="131114" cy="18967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8367" y="1581911"/>
              <a:ext cx="50800" cy="1902460"/>
            </a:xfrm>
            <a:custGeom>
              <a:avLst/>
              <a:gdLst/>
              <a:ahLst/>
              <a:cxnLst/>
              <a:rect l="l" t="t" r="r" b="b"/>
              <a:pathLst>
                <a:path w="50800" h="1902460">
                  <a:moveTo>
                    <a:pt x="50292" y="0"/>
                  </a:moveTo>
                  <a:lnTo>
                    <a:pt x="0" y="0"/>
                  </a:lnTo>
                  <a:lnTo>
                    <a:pt x="0" y="1901952"/>
                  </a:lnTo>
                  <a:lnTo>
                    <a:pt x="50292" y="1901952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804672" y="1728216"/>
            <a:ext cx="6537960" cy="1373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>
                <a:solidFill>
                  <a:srgbClr val="F5F8FB"/>
                </a:solidFill>
                <a:latin typeface="Aptos"/>
              </a:rPr>
              <a:t>AI-Enabled Underground Cable Fault Detection and Predictive Health Monitoring Using ESP32</a:t>
            </a:r>
            <a:endParaRPr lang="en-US" sz="2850" b="1">
              <a:solidFill>
                <a:schemeClr val="bg1"/>
              </a:solidFill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972" y="3833241"/>
            <a:ext cx="6400800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Embedded</a:t>
            </a:r>
            <a:r>
              <a:rPr sz="1200" b="1" spc="-25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Systems</a:t>
            </a:r>
            <a:r>
              <a:rPr sz="1200" b="1" spc="250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•</a:t>
            </a:r>
            <a:r>
              <a:rPr sz="1200" b="1" spc="305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IoT</a:t>
            </a:r>
            <a:r>
              <a:rPr sz="1200" b="1" spc="290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•</a:t>
            </a:r>
            <a:r>
              <a:rPr sz="1200" b="1" spc="290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Embedded</a:t>
            </a:r>
            <a:r>
              <a:rPr sz="1200" b="1" spc="-20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AI</a:t>
            </a:r>
            <a:r>
              <a:rPr sz="1200" b="1" spc="305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•</a:t>
            </a:r>
            <a:r>
              <a:rPr sz="1200" b="1" spc="290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Electrical</a:t>
            </a:r>
            <a:r>
              <a:rPr sz="1200" b="1" spc="25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dirty="0">
                <a:solidFill>
                  <a:srgbClr val="FFEA00"/>
                </a:solidFill>
                <a:latin typeface="Aptos"/>
                <a:cs typeface="Aptos"/>
              </a:rPr>
              <a:t>and</a:t>
            </a:r>
            <a:r>
              <a:rPr sz="1200" b="1" spc="25" dirty="0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sz="1200" b="1" spc="-10" dirty="0">
                <a:solidFill>
                  <a:srgbClr val="FFEA00"/>
                </a:solidFill>
                <a:latin typeface="Aptos"/>
                <a:cs typeface="Aptos"/>
              </a:rPr>
              <a:t>Electronics</a:t>
            </a:r>
            <a:endParaRPr sz="1200">
              <a:latin typeface="Aptos"/>
              <a:cs typeface="Apto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4671" y="4350962"/>
            <a:ext cx="5257800" cy="97466"/>
            <a:chOff x="804671" y="4350962"/>
            <a:chExt cx="5257800" cy="97466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4007" y="4350962"/>
              <a:ext cx="5174558" cy="9746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04671" y="4370882"/>
              <a:ext cx="5257800" cy="16510"/>
            </a:xfrm>
            <a:custGeom>
              <a:avLst/>
              <a:gdLst/>
              <a:ahLst/>
              <a:cxnLst/>
              <a:rect l="l" t="t" r="r" b="b"/>
              <a:pathLst>
                <a:path w="5257800" h="16510">
                  <a:moveTo>
                    <a:pt x="5257800" y="0"/>
                  </a:moveTo>
                  <a:lnTo>
                    <a:pt x="0" y="0"/>
                  </a:lnTo>
                  <a:lnTo>
                    <a:pt x="0" y="16459"/>
                  </a:lnTo>
                  <a:lnTo>
                    <a:pt x="5257800" y="1645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273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1972" y="4659629"/>
            <a:ext cx="4441825" cy="643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F5F8FB"/>
                </a:solidFill>
                <a:latin typeface="Aptos"/>
                <a:cs typeface="Aptos"/>
              </a:rPr>
              <a:t>Predictive</a:t>
            </a:r>
            <a:r>
              <a:rPr sz="1600" b="1" spc="-5" dirty="0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sz="1600" b="1" dirty="0">
                <a:solidFill>
                  <a:srgbClr val="F5F8FB"/>
                </a:solidFill>
                <a:latin typeface="Aptos"/>
                <a:cs typeface="Aptos"/>
              </a:rPr>
              <a:t>Maintenance</a:t>
            </a:r>
            <a:r>
              <a:rPr sz="1600" b="1" spc="35" dirty="0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sz="1600" b="1" dirty="0">
                <a:solidFill>
                  <a:srgbClr val="F5F8FB"/>
                </a:solidFill>
                <a:latin typeface="Aptos"/>
                <a:cs typeface="Aptos"/>
              </a:rPr>
              <a:t>Using</a:t>
            </a:r>
            <a:r>
              <a:rPr sz="1600" b="1" spc="15" dirty="0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sz="1600" b="1" dirty="0">
                <a:solidFill>
                  <a:srgbClr val="F5F8FB"/>
                </a:solidFill>
                <a:latin typeface="Aptos"/>
                <a:cs typeface="Aptos"/>
              </a:rPr>
              <a:t>Edge</a:t>
            </a:r>
            <a:r>
              <a:rPr sz="1600" b="1" spc="10" dirty="0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sz="1600" b="1" spc="-10" dirty="0">
                <a:solidFill>
                  <a:srgbClr val="F5F8FB"/>
                </a:solidFill>
                <a:latin typeface="Aptos"/>
                <a:cs typeface="Aptos"/>
              </a:rPr>
              <a:t>Intelligence</a:t>
            </a:r>
            <a:endParaRPr sz="16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050" b="1" dirty="0">
                <a:solidFill>
                  <a:srgbClr val="00BEFF"/>
                </a:solidFill>
                <a:latin typeface="Aptos"/>
                <a:cs typeface="Aptos"/>
              </a:rPr>
              <a:t>MONITOR</a:t>
            </a:r>
            <a:r>
              <a:rPr sz="1050" b="1" spc="175" dirty="0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sz="1050" b="1" dirty="0">
                <a:solidFill>
                  <a:srgbClr val="00BEFF"/>
                </a:solidFill>
                <a:latin typeface="Aptos"/>
                <a:cs typeface="Aptos"/>
              </a:rPr>
              <a:t>·</a:t>
            </a:r>
            <a:r>
              <a:rPr sz="1050" b="1" spc="195" dirty="0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sz="1050" b="1" dirty="0">
                <a:solidFill>
                  <a:srgbClr val="00BEFF"/>
                </a:solidFill>
                <a:latin typeface="Aptos"/>
                <a:cs typeface="Aptos"/>
              </a:rPr>
              <a:t>DETECT</a:t>
            </a:r>
            <a:r>
              <a:rPr sz="1050" b="1" spc="190" dirty="0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sz="1050" b="1" dirty="0">
                <a:solidFill>
                  <a:srgbClr val="00BEFF"/>
                </a:solidFill>
                <a:latin typeface="Aptos"/>
                <a:cs typeface="Aptos"/>
              </a:rPr>
              <a:t>·</a:t>
            </a:r>
            <a:r>
              <a:rPr sz="1050" b="1" spc="190" dirty="0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sz="1050" b="1" spc="-10" dirty="0">
                <a:solidFill>
                  <a:srgbClr val="00BEFF"/>
                </a:solidFill>
                <a:latin typeface="Aptos"/>
                <a:cs typeface="Aptos"/>
              </a:rPr>
              <a:t>PREDICT</a:t>
            </a:r>
            <a:endParaRPr sz="1050">
              <a:latin typeface="Aptos"/>
              <a:cs typeface="Apto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8367" y="6179815"/>
            <a:ext cx="10881360" cy="91648"/>
            <a:chOff x="658367" y="6179815"/>
            <a:chExt cx="10881360" cy="91648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4383" y="6179815"/>
              <a:ext cx="9384755" cy="916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pic>
        <p:nvPicPr>
          <p:cNvPr id="22" name="Cable fault detection, ESP32 edge sensing and cloud AI illustration — blended" descr="Animated-style underground cable fault detection visual with ESP32-class edge sensing and cloud AI, blended into the slide background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968" y="1250188"/>
            <a:ext cx="4096512" cy="4096512"/>
          </a:xfrm>
          <a:prstGeom prst="rect">
            <a:avLst/>
          </a:prstGeom>
          <a:effectLst>
            <a:softEdge rad="1524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00" b="1" spc="-10" dirty="0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sz="750" b="1" spc="-20" dirty="0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668" y="806666"/>
            <a:ext cx="362204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1450" b="1">
                <a:solidFill>
                  <a:srgbClr val="00BEFF"/>
                </a:solidFill>
                <a:latin typeface="Aptos"/>
              </a:rPr>
              <a:t>01</a:t>
            </a:r>
            <a:endParaRPr lang="en-IN" sz="14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200" b="1">
                <a:solidFill>
                  <a:srgbClr val="F5F8FB"/>
                </a:solidFill>
                <a:latin typeface="Aptos"/>
              </a:rPr>
              <a:t>Problem Statement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93405" y="1247901"/>
            <a:ext cx="33655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8599AB"/>
                </a:solidFill>
                <a:latin typeface="Aptos"/>
              </a:rPr>
              <a:t>CABLE SENSING / EDGE AI / CONNECTED MAINTENANCE</a:t>
            </a:r>
            <a:endParaRPr lang="en-US" sz="1000">
              <a:latin typeface="Aptos"/>
              <a:cs typeface="Apto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0521" y="1754073"/>
            <a:ext cx="1110098" cy="131114"/>
            <a:chOff x="640521" y="1754073"/>
            <a:chExt cx="1110098" cy="13111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521" y="1754073"/>
              <a:ext cx="1110098" cy="1311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8367" y="1773935"/>
              <a:ext cx="1079500" cy="50800"/>
            </a:xfrm>
            <a:custGeom>
              <a:avLst/>
              <a:gdLst/>
              <a:ahLst/>
              <a:cxnLst/>
              <a:rect l="l" t="t" r="r" b="b"/>
              <a:pathLst>
                <a:path w="1079500" h="50800">
                  <a:moveTo>
                    <a:pt x="1078992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1078992" y="5029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9224" y="1920240"/>
            <a:ext cx="3154680" cy="63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1050" b="1">
                <a:solidFill>
                  <a:srgbClr val="00BEFF"/>
                </a:solidFill>
                <a:latin typeface="Aptos"/>
              </a:rPr>
              <a:t>FAULTS  ·  DISTANCE  ·  SAFETY  ·  DOWNTIME</a:t>
            </a:r>
            <a:endParaRPr lang="en-US" sz="10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5" b="1">
                <a:solidFill>
                  <a:srgbClr val="F5F8FB"/>
                </a:solidFill>
                <a:latin typeface="Aptos"/>
              </a:rPr>
              <a:t>01   HIDDEN FAULT RISK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3989832" y="2286000"/>
            <a:ext cx="91648" cy="3529965"/>
            <a:chOff x="3989832" y="2286000"/>
            <a:chExt cx="91648" cy="352996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9832" y="2425868"/>
              <a:ext cx="91648" cy="32909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32504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1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1" y="3529584"/>
                  </a:lnTo>
                  <a:lnTo>
                    <a:pt x="10971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33672" y="2276856"/>
            <a:ext cx="3072384" cy="265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lang="en-IN" sz="1725" b="1">
                <a:solidFill>
                  <a:srgbClr val="F5F8FB"/>
                </a:solidFill>
                <a:latin typeface="Aptos"/>
              </a:rPr>
              <a:t>02   INCOMPLETE VISIBILITY</a:t>
            </a:r>
            <a:endParaRPr lang="en-IN" sz="1725" baseline="2415">
              <a:latin typeface="Aptos"/>
              <a:cs typeface="Apto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4280" y="2286000"/>
            <a:ext cx="91648" cy="3529965"/>
            <a:chOff x="7574280" y="2286000"/>
            <a:chExt cx="91648" cy="352996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4280" y="2425868"/>
              <a:ext cx="91648" cy="32909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616952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2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2" y="3529584"/>
                  </a:lnTo>
                  <a:lnTo>
                    <a:pt x="10972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18120" y="2276856"/>
            <a:ext cx="3438144" cy="265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lang="en-IN" sz="1725" b="1">
                <a:solidFill>
                  <a:srgbClr val="F5F8FB"/>
                </a:solidFill>
                <a:latin typeface="Aptos"/>
              </a:rPr>
              <a:t>03   DELAYED MAINTENANCE</a:t>
            </a:r>
            <a:endParaRPr lang="en-IN" sz="1725" baseline="2415">
              <a:latin typeface="Aptos"/>
              <a:cs typeface="Apto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8367" y="6179815"/>
            <a:ext cx="10881360" cy="91648"/>
            <a:chOff x="658367" y="6179815"/>
            <a:chExt cx="10881360" cy="91648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4383" y="6179815"/>
              <a:ext cx="9384755" cy="91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926080"/>
            <a:ext cx="315468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Failures are difficult to locate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Open- and short-circuit faults interrupt supply, while underground routing makes visual inspection slow, disruptive and uncertain.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01091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DETECT  •  OPEN  •  SHORT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2770632"/>
            <a:ext cx="307238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Signals must be interpreted together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Voltage drop, overcurrent, near-zero current and abnormal heating can be missed when each sensor is checked in isolation.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5010912"/>
            <a:ext cx="307238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CORRELATE  •  V  •  I  •  °C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770632"/>
            <a:ext cx="343814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Raw readings do not guide the repair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Teams need the likely fault class, estimated distance, alert severity and event history before deciding where to inspect.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010912"/>
            <a:ext cx="343814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DECIDE  •  LOCATE  •  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00" b="1" spc="-10" dirty="0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sz="750" b="1" spc="-20" dirty="0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668" y="806666"/>
            <a:ext cx="160020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1450" b="1">
                <a:solidFill>
                  <a:srgbClr val="00BEFF"/>
                </a:solidFill>
                <a:latin typeface="Aptos"/>
              </a:rPr>
              <a:t>02</a:t>
            </a:r>
            <a:endParaRPr lang="en-IN" sz="14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200" b="1">
                <a:solidFill>
                  <a:srgbClr val="F5F8FB"/>
                </a:solidFill>
                <a:latin typeface="Aptos"/>
              </a:rPr>
              <a:t>Abstract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93405" y="1247901"/>
            <a:ext cx="33655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8599AB"/>
                </a:solidFill>
                <a:latin typeface="Aptos"/>
              </a:rPr>
              <a:t>CABLE SENSING / EDGE AI / CONNECTED MAINTENANCE</a:t>
            </a:r>
            <a:endParaRPr lang="en-US" sz="1000">
              <a:latin typeface="Aptos"/>
              <a:cs typeface="Apto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0521" y="1754073"/>
            <a:ext cx="1110098" cy="131114"/>
            <a:chOff x="640521" y="1754073"/>
            <a:chExt cx="1110098" cy="13111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521" y="1754073"/>
              <a:ext cx="1110098" cy="1311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8367" y="1773935"/>
              <a:ext cx="1079500" cy="50800"/>
            </a:xfrm>
            <a:custGeom>
              <a:avLst/>
              <a:gdLst/>
              <a:ahLst/>
              <a:cxnLst/>
              <a:rect l="l" t="t" r="r" b="b"/>
              <a:pathLst>
                <a:path w="1079500" h="50800">
                  <a:moveTo>
                    <a:pt x="1078992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1078992" y="5029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9224" y="1920240"/>
            <a:ext cx="3154680" cy="63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1050" b="1">
                <a:solidFill>
                  <a:srgbClr val="00BEFF"/>
                </a:solidFill>
                <a:latin typeface="Aptos"/>
              </a:rPr>
              <a:t>SENSE  /  ESTIMATE  /  CLASSIFY  /  CONNECT</a:t>
            </a:r>
            <a:endParaRPr lang="en-US" sz="10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5" b="1">
                <a:solidFill>
                  <a:srgbClr val="F5F8FB"/>
                </a:solidFill>
                <a:latin typeface="Aptos"/>
              </a:rPr>
              <a:t>01   INSTRUMENT THE CABLE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3989832" y="2286000"/>
            <a:ext cx="91648" cy="3529965"/>
            <a:chOff x="3989832" y="2286000"/>
            <a:chExt cx="91648" cy="352996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9832" y="2425868"/>
              <a:ext cx="91648" cy="32909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32504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1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1" y="3529584"/>
                  </a:lnTo>
                  <a:lnTo>
                    <a:pt x="10971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33672" y="2276856"/>
            <a:ext cx="3072384" cy="265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lang="en-US" sz="1725" b="1">
                <a:solidFill>
                  <a:srgbClr val="F5F8FB"/>
                </a:solidFill>
                <a:latin typeface="Aptos"/>
              </a:rPr>
              <a:t>02   DIAGNOSE AT THE EDGE</a:t>
            </a:r>
            <a:endParaRPr lang="en-US" sz="1725" baseline="2415">
              <a:latin typeface="Aptos"/>
              <a:cs typeface="Apto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4280" y="2286000"/>
            <a:ext cx="91648" cy="3529965"/>
            <a:chOff x="7574280" y="2286000"/>
            <a:chExt cx="91648" cy="352996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4280" y="2425868"/>
              <a:ext cx="91648" cy="32909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616952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2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2" y="3529584"/>
                  </a:lnTo>
                  <a:lnTo>
                    <a:pt x="10972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18120" y="2276856"/>
            <a:ext cx="3438144" cy="265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lang="en-IN" sz="1725" b="1">
                <a:solidFill>
                  <a:srgbClr val="F5F8FB"/>
                </a:solidFill>
                <a:latin typeface="Aptos"/>
              </a:rPr>
              <a:t>03   CONNECT THE RESPONSE</a:t>
            </a:r>
            <a:endParaRPr lang="en-IN" sz="1725" baseline="2415">
              <a:latin typeface="Aptos"/>
              <a:cs typeface="Apto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8367" y="6179815"/>
            <a:ext cx="10881360" cy="91648"/>
            <a:chOff x="658367" y="6179815"/>
            <a:chExt cx="10881360" cy="91648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4383" y="6179815"/>
              <a:ext cx="9384755" cy="91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spc="-10" dirty="0"/>
              <a:t> </a:t>
            </a:r>
            <a:r>
              <a:rPr dirty="0"/>
              <a:t>Labs</a:t>
            </a:r>
            <a:r>
              <a:rPr spc="150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spc="-10" dirty="0"/>
              <a:t>genovaatechlabs.com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926080"/>
            <a:ext cx="315468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Continuous electrical and thermal sensing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An ESP32 samples supply-side and load-side voltage, current and TMP117 temperature on a calibrated low-voltage cable test setup.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01091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LIVE FEATURE 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2770632"/>
            <a:ext cx="307238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Rules and AI produce a faster diagnosis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The device detects open/short, overcurrent, sudden-current, near-zero-current and thermal anomalies; calibrated sensing estimates distance and AI is compared with a baseline algorithm.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5010912"/>
            <a:ext cx="307238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BASELINE  ↔ 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770632"/>
            <a:ext cx="343814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Every event becomes visible and traceable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A Wi-Fi dashboard shows live values, fault type, distance, status and graphs; timestamps, readings and predictions are stored while local and dashboard alerts flag abnormal trends.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010912"/>
            <a:ext cx="343814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DASHBOARD  •  HISTORY  • 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00" b="1" spc="-10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sz="750" b="1" spc="-20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566" y="806500"/>
            <a:ext cx="4846320" cy="85953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0BEFF"/>
                </a:solidFill>
                <a:latin typeface="Aptos"/>
              </a:rPr>
              <a:t>03</a:t>
            </a:r>
            <a:endParaRPr sz="14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5F8FB"/>
                </a:solidFill>
                <a:latin typeface="Aptos"/>
              </a:rPr>
              <a:t>Proposed Solution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93405" y="1247901"/>
            <a:ext cx="3365500" cy="18097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599AB"/>
                </a:solidFill>
                <a:latin typeface="Aptos"/>
              </a:rPr>
              <a:t>CABLE SENSING / EDGE AI / CONNECTED MAINTENANCE</a:t>
            </a:r>
            <a:endParaRPr sz="1000">
              <a:latin typeface="Aptos"/>
              <a:cs typeface="Apto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5695" y="1754073"/>
            <a:ext cx="1160145" cy="131445"/>
            <a:chOff x="615695" y="1754073"/>
            <a:chExt cx="1160145" cy="13144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521" y="1754073"/>
              <a:ext cx="1110098" cy="1311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8367" y="1773935"/>
              <a:ext cx="1079500" cy="50800"/>
            </a:xfrm>
            <a:custGeom>
              <a:avLst/>
              <a:gdLst/>
              <a:ahLst/>
              <a:cxnLst/>
              <a:rect l="l" t="t" r="r" b="b"/>
              <a:pathLst>
                <a:path w="1079500" h="50800">
                  <a:moveTo>
                    <a:pt x="1078992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1078992" y="5029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9224" y="1920240"/>
            <a:ext cx="3154680" cy="6858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MEASURE  /  DIAGNOSE  /  RESPOND</a:t>
            </a:r>
            <a:endParaRPr sz="10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5F8FB"/>
                </a:solidFill>
                <a:latin typeface="Aptos"/>
              </a:rPr>
              <a:t>01   SENSOR FRONT END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3989832" y="2266188"/>
            <a:ext cx="92075" cy="3610610"/>
            <a:chOff x="3989832" y="2266188"/>
            <a:chExt cx="92075" cy="361061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9832" y="2425868"/>
              <a:ext cx="91648" cy="32909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32504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1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1" y="3529584"/>
                  </a:lnTo>
                  <a:lnTo>
                    <a:pt x="10971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33672" y="2276856"/>
            <a:ext cx="3072384" cy="6858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sz="1725" b="1">
                <a:solidFill>
                  <a:srgbClr val="F5F8FB"/>
                </a:solidFill>
                <a:latin typeface="Aptos"/>
              </a:rPr>
              <a:t>02   EMBEDDED DIAGNOSIS</a:t>
            </a:r>
            <a:endParaRPr sz="1725" baseline="2415">
              <a:latin typeface="Aptos"/>
              <a:cs typeface="Apto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4280" y="2266188"/>
            <a:ext cx="92075" cy="3610610"/>
            <a:chOff x="7574280" y="2266188"/>
            <a:chExt cx="92075" cy="361061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4280" y="2425868"/>
              <a:ext cx="91648" cy="32909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616952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2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2" y="3529584"/>
                  </a:lnTo>
                  <a:lnTo>
                    <a:pt x="10972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18120" y="2276856"/>
            <a:ext cx="3438144" cy="6858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sz="1725" b="1">
                <a:solidFill>
                  <a:srgbClr val="F5F8FB"/>
                </a:solidFill>
                <a:latin typeface="Aptos"/>
              </a:rPr>
              <a:t>03   CONNECTED RESPONSE</a:t>
            </a:r>
            <a:endParaRPr sz="1725" baseline="2415">
              <a:latin typeface="Aptos"/>
              <a:cs typeface="Apto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5695" y="6179815"/>
            <a:ext cx="10962640" cy="92075"/>
            <a:chOff x="615695" y="6179815"/>
            <a:chExt cx="10962640" cy="9207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4383" y="6179815"/>
              <a:ext cx="9384755" cy="91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t>GenovaaTech</a:t>
            </a:r>
            <a:r>
              <a:rPr spc="-10"/>
              <a:t> </a:t>
            </a:r>
            <a:r>
              <a:t>Labs</a:t>
            </a:r>
            <a:r>
              <a:rPr spc="150"/>
              <a:t> </a:t>
            </a:r>
            <a:r>
              <a:t>|</a:t>
            </a:r>
            <a:r>
              <a:rPr spc="150"/>
              <a:t> </a:t>
            </a:r>
            <a:r>
              <a:rPr spc="-10"/>
              <a:t>genovaatechlabs.com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926080"/>
            <a:ext cx="315468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Capture the cable’s condition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Voltage dividers, a current-sensing circuit and TMP117 feed the ESP32. A calibrated cable fixture safely injects simulated open- and short-circuit faults.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01091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INPUT: VIN  •  VOUT  •  I  •  TMP117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2770632"/>
            <a:ext cx="307238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Convert features into fault intelligence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The ESP32 filters readings, applies baseline thresholds, estimates fault distance and runs an AI classifier. Agreement and disagreement between both methods are retained.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5010912"/>
            <a:ext cx="307238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OUTPUT: TYPE  •  DISTANCE  • 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770632"/>
            <a:ext cx="343814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Turn diagnosis into maintenance action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Wi-Fi publishes live status and graphs; event history records timestamps and sensor context; buzzer and dashboard alerts escalate faults and unusual cable-health trends.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010912"/>
            <a:ext cx="343814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ACTION: ALERT  •  INSPECT  • 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650992"/>
            <a:ext cx="10744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EA00"/>
                </a:solidFill>
                <a:latin typeface="Aptos"/>
              </a:rPr>
              <a:t>SENSOR FRONT END  →  ESP32 EDGE DIAGNOSIS  →  IoT DASHBOARD + LOCAL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00" b="1" spc="-10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sz="750" b="1" spc="-20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566" y="806500"/>
            <a:ext cx="4846320" cy="85953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0BEFF"/>
                </a:solidFill>
                <a:latin typeface="Aptos"/>
              </a:rPr>
              <a:t>04</a:t>
            </a:r>
            <a:endParaRPr sz="14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5F8FB"/>
                </a:solidFill>
                <a:latin typeface="Aptos"/>
              </a:rPr>
              <a:t>Expected Output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93405" y="1247901"/>
            <a:ext cx="3365500" cy="18097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599AB"/>
                </a:solidFill>
                <a:latin typeface="Aptos"/>
              </a:rPr>
              <a:t>CABLE SENSING / EDGE AI / CONNECTED MAINTENANCE</a:t>
            </a:r>
            <a:endParaRPr sz="1000">
              <a:latin typeface="Aptos"/>
              <a:cs typeface="Apto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5695" y="1754073"/>
            <a:ext cx="1160145" cy="131445"/>
            <a:chOff x="615695" y="1754073"/>
            <a:chExt cx="1160145" cy="13144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521" y="1754073"/>
              <a:ext cx="1110098" cy="1311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8367" y="1773935"/>
              <a:ext cx="1079500" cy="50800"/>
            </a:xfrm>
            <a:custGeom>
              <a:avLst/>
              <a:gdLst/>
              <a:ahLst/>
              <a:cxnLst/>
              <a:rect l="l" t="t" r="r" b="b"/>
              <a:pathLst>
                <a:path w="1079500" h="50800">
                  <a:moveTo>
                    <a:pt x="1078992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1078992" y="5029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9224" y="1920240"/>
            <a:ext cx="3154680" cy="6858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LIVE STATUS  /  DISTANCE  /  HISTORY  /  HEALTH</a:t>
            </a:r>
            <a:endParaRPr sz="1050">
              <a:latin typeface="Aptos"/>
              <a:cs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5F8FB"/>
                </a:solidFill>
                <a:latin typeface="Aptos"/>
              </a:rPr>
              <a:t>01   INSTANT DIAGNOSIS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3989832" y="2266188"/>
            <a:ext cx="92075" cy="3610610"/>
            <a:chOff x="3989832" y="2266188"/>
            <a:chExt cx="92075" cy="361061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9832" y="2425868"/>
              <a:ext cx="91648" cy="32909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32504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1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1" y="3529584"/>
                  </a:lnTo>
                  <a:lnTo>
                    <a:pt x="10971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33672" y="2276856"/>
            <a:ext cx="3072384" cy="6858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sz="1725" b="1">
                <a:solidFill>
                  <a:srgbClr val="F5F8FB"/>
                </a:solidFill>
                <a:latin typeface="Aptos"/>
              </a:rPr>
              <a:t>02   MEASURED EVIDENCE</a:t>
            </a:r>
            <a:endParaRPr sz="1725" baseline="2415">
              <a:latin typeface="Aptos"/>
              <a:cs typeface="Apto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4280" y="2266188"/>
            <a:ext cx="92075" cy="3610610"/>
            <a:chOff x="7574280" y="2266188"/>
            <a:chExt cx="92075" cy="361061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4280" y="2425868"/>
              <a:ext cx="91648" cy="32909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616952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2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2" y="3529584"/>
                  </a:lnTo>
                  <a:lnTo>
                    <a:pt x="10972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18120" y="2276856"/>
            <a:ext cx="3438144" cy="6858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69265" algn="l"/>
              </a:tabLst>
            </a:pPr>
            <a:r>
              <a:rPr sz="1725" b="1">
                <a:solidFill>
                  <a:srgbClr val="F5F8FB"/>
                </a:solidFill>
                <a:latin typeface="Aptos"/>
              </a:rPr>
              <a:t>03   ACTIONABLE RECORD</a:t>
            </a:r>
            <a:endParaRPr sz="1725" baseline="2415">
              <a:latin typeface="Aptos"/>
              <a:cs typeface="Apto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5695" y="6179815"/>
            <a:ext cx="10962640" cy="92075"/>
            <a:chOff x="615695" y="6179815"/>
            <a:chExt cx="10962640" cy="9207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4383" y="6179815"/>
              <a:ext cx="9384755" cy="91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t>GenovaaTech</a:t>
            </a:r>
            <a:r>
              <a:rPr spc="-10"/>
              <a:t> </a:t>
            </a:r>
            <a:r>
              <a:t>Labs</a:t>
            </a:r>
            <a:r>
              <a:rPr spc="150"/>
              <a:t> </a:t>
            </a:r>
            <a:r>
              <a:t>|</a:t>
            </a:r>
            <a:r>
              <a:rPr spc="150"/>
              <a:t> </a:t>
            </a:r>
            <a:r>
              <a:rPr spc="-10"/>
              <a:t>genovaatechlabs.com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926080"/>
            <a:ext cx="315468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A clear fault decision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The system reports Healthy, Open Circuit, Short Circuit, Overcurrent, Near-Zero Current or Thermal Anomaly, plus an estimated distance from the cable starting point.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01091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FAULT TYPE  •  DISTANCE  • 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2770632"/>
            <a:ext cx="307238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Live readings explain the decision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Supply voltage, load voltage, current and TMP117 temperature appear with trend graphs. AI prediction is displayed alongside the baseline result for comparison.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5010912"/>
            <a:ext cx="307238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VIN  •  VOUT  •  CURRENT  •  TEMPERATURE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770632"/>
            <a:ext cx="3438144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>
                <a:solidFill>
                  <a:srgbClr val="F5F8FB"/>
                </a:solidFill>
                <a:latin typeface="Aptos"/>
              </a:rPr>
              <a:t>Alerts and history support follow-up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3DFEA"/>
                </a:solidFill>
                <a:latin typeface="Aptos"/>
              </a:rPr>
              <a:t>Each event stores a timestamp, sensor snapshot, estimate and prediction. Local buzzer and dashboard alerts flag immediate faults; health trends identify cables that warrant inspection.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010912"/>
            <a:ext cx="343814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EFF"/>
                </a:solidFill>
                <a:latin typeface="Aptos"/>
              </a:rPr>
              <a:t>TIMESTAMP  •  EVENT LOG  •  HEALTH 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650992"/>
            <a:ext cx="10744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EA00"/>
                </a:solidFill>
                <a:latin typeface="Aptos"/>
              </a:rPr>
              <a:t>EXPECTED DASHBOARD FIELDS: FAULT  |  DISTANCE  |  V / I / °C  |  ALERT  |  TIMESTAMP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657</Words>
  <Application>Microsoft Office PowerPoint</Application>
  <PresentationFormat>Widescreen</PresentationFormat>
  <Paragraphs>87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Yugandhar</dc:creator>
  <cp:lastModifiedBy>K Yugandhar</cp:lastModifiedBy>
  <cp:revision>2</cp:revision>
  <dcterms:created xsi:type="dcterms:W3CDTF">2026-10-13T09:50:23Z</dcterms:created>
  <dcterms:modified xsi:type="dcterms:W3CDTF">2026-10-13T16:01:47Z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2026-10-13T00:00:00Z</vt:filetime>
  </property>
  <property fmtid="{D5CDD505-2E9C-101B-9397-08002B2CF9AE}" pid="6" name="Producer">
    <vt:lpwstr>Microsoft® PowerPoint® for Microsoft 365</vt:lpwstr>
  </property>
</Properties>
</file>