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866cb9-5816-798a-3cca-0271b0bfc150}">
          <p14:sldIdLst>
            <p14:sldId id="256"/>
            <p14:sldId id="257"/>
            <p14:sldId id="258"/>
          </p14:sldIdLst>
        </p14:section>
        <p14:section name="Chapter 1: Introduction" id="{33edc444-0fe3-a231-5be8-2bb632d4298b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hapter 2: Literature Survey" id="{2470b757-37db-48d9-9023-0421885dacee}">
          <p14:sldIdLst>
            <p14:sldId id="266"/>
            <p14:sldId id="267"/>
            <p14:sldId id="268"/>
            <p14:sldId id="269"/>
            <p14:sldId id="270"/>
          </p14:sldIdLst>
        </p14:section>
        <p14:section name="Chapter 3: Design Methodology" id="{5706df44-233e-4501-fe9a-b8bb74d732c2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osing" id="{d05340f9-38c6-d70d-3c8c-8cc0021caf71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guide and the project title. This review covers the work up to Chapter 3: introduction, literature survey and design methodology.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of the talk: abstract, the three chapters, and the design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system in one breath: sense, detect, locate, diagnose with ML on the phone, alert, and predict deterioration.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1 sets out why the problem matters and what we propose.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underground cables are used, why faults are hard to find, and the two fault types the prototype simulates.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one gap in current practice that the project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in one sentence, then the six objectives that follow from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solutions are either accurate but expensive and offline, or cheap but limited.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stages: sensing on the cable simulator, edge processing on the ESP32, and ML diagnosis plus monitoring in the Android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on the left, hardware on the right. GPS and GSM are excluded from this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2 reviews related work in three groups and identifies the gap our system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one or two papers per slide rather than reading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one or two papers per slide rather than reading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one or two papers per slide rather than reading every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three groups, then show how the proposed system closes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3 shows how the system is designed, one diagram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Sensors feed the ESP32, which processes, detects and estimates distance. Data goes over Wi-Fi to the app for ML diagnosis; OLED and buzzer give local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sensing, processing on the ESP32, communication over Wi-Fi, and the application layer in the Android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 at the centre: voltage sensors on the ADC, INA219 and TMP117 on I2C, OLED on I2C, buzzer and LEDs on GPIO, Wi-Fi 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1 km section is 100 ohm per conductor. Closing SWk shorts at k km. Distance = (Vs / I) / (2 x R per km). Example: 600 ohm gives 3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Checks run in order: short circuit, open circuit, voltage drop, overheating. Faults trigger local alerts; every cycle sends a packet 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Offline: collect, extract features, label, train, evaluate, export to TFLite. On the phone: the model runs in the background on live data and is compared with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receives data, runs ML, stores history and computes a 0-100 health index shown on four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eight build steps, in order. Steps 1-3 are hardware and firmware, 4-5 ML, 6-8 app, alerts and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MGIT  |  Department of Emerging Technologies  |  Project Stage-1 (CD753PC)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bg"/>
          <p:cNvSpPr/>
          <p:nvPr/>
        </p:nvSpPr>
        <p:spPr>
          <a:xfrm>
            <a:off x="640080" y="685800"/>
            <a:ext cx="1417320" cy="1828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" descr="MGI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58952"/>
            <a:ext cx="1234440" cy="1627632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2377440" y="7772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1"/>
                </a:solidFill>
              </a:rPr>
              <a:t>PROJECT STAGE-1 REVIEW  (CD753PC)</a:t>
            </a:r>
            <a:endParaRPr lang="en-US" sz="1600" dirty="0"/>
          </a:p>
        </p:txBody>
      </p:sp>
      <p:sp>
        <p:nvSpPr>
          <p:cNvPr id="5" name="college"/>
          <p:cNvSpPr txBox="1"/>
          <p:nvPr/>
        </p:nvSpPr>
        <p:spPr>
          <a:xfrm>
            <a:off x="2377440" y="123444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Mahatma Gandhi Institute of Technology (Autonomous)</a:t>
            </a:r>
            <a:endParaRPr lang="en-US" sz="1800" dirty="0"/>
          </a:p>
        </p:txBody>
      </p:sp>
      <p:sp>
        <p:nvSpPr>
          <p:cNvPr id="6" name="dept"/>
          <p:cNvSpPr txBox="1"/>
          <p:nvPr/>
        </p:nvSpPr>
        <p:spPr>
          <a:xfrm>
            <a:off x="2377440" y="1645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Department of Emerging Technologies  |  Computer Science and Engineering (Data Science)</a:t>
            </a:r>
            <a:endParaRPr lang="en-US" sz="1400" dirty="0"/>
          </a:p>
        </p:txBody>
      </p:sp>
      <p:sp>
        <p:nvSpPr>
          <p:cNvPr id="7" name="deck-title"/>
          <p:cNvSpPr txBox="1"/>
          <p:nvPr/>
        </p:nvSpPr>
        <p:spPr>
          <a:xfrm>
            <a:off x="640080" y="27889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Underground Cable Fault Detection and Remote Monitoring</a:t>
            </a:r>
            <a:endParaRPr lang="en-US" sz="3800" dirty="0"/>
          </a:p>
        </p:txBody>
      </p:sp>
      <p:sp>
        <p:nvSpPr>
          <p:cNvPr id="8" name="deck-sub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</a:rPr>
              <a:t>Fault detection, distance estimation and predictive health monitoring using ESP32, IoT and Machine Learning</a:t>
            </a:r>
            <a:endParaRPr lang="en-US" sz="1700" dirty="0"/>
          </a:p>
        </p:txBody>
      </p:sp>
      <p:sp>
        <p:nvSpPr>
          <p:cNvPr id="9" name="card-1"/>
          <p:cNvSpPr/>
          <p:nvPr/>
        </p:nvSpPr>
        <p:spPr>
          <a:xfrm>
            <a:off x="640080" y="4983480"/>
            <a:ext cx="6949440" cy="1325880"/>
          </a:xfrm>
          <a:prstGeom prst="roundRect">
            <a:avLst>
              <a:gd name="adj" fmla="val 5517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0" name="team"/>
          <p:cNvSpPr txBox="1"/>
          <p:nvPr/>
        </p:nvSpPr>
        <p:spPr>
          <a:xfrm>
            <a:off x="868680" y="507492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Presented by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Deta Jonah Ratan (23261A6717)   •   Madhavaram Vineel (24265A6702)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Pasnoori Abhinay (24265A6704)</a:t>
            </a:r>
            <a:endParaRPr lang="en-US" sz="1300" dirty="0"/>
          </a:p>
        </p:txBody>
      </p:sp>
      <p:sp>
        <p:nvSpPr>
          <p:cNvPr id="11" name="card-2"/>
          <p:cNvSpPr/>
          <p:nvPr/>
        </p:nvSpPr>
        <p:spPr>
          <a:xfrm>
            <a:off x="7863840" y="4983480"/>
            <a:ext cx="3657600" cy="1325880"/>
          </a:xfrm>
          <a:prstGeom prst="roundRect">
            <a:avLst>
              <a:gd name="adj" fmla="val 5517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2" name="guide"/>
          <p:cNvSpPr txBox="1"/>
          <p:nvPr/>
        </p:nvSpPr>
        <p:spPr>
          <a:xfrm>
            <a:off x="8092440" y="50749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Under the guidance of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Ms. A. Swapna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3E6"/>
                </a:solidFill>
              </a:rPr>
              <a:t>Assistant Professor, Dept. of 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4" name="card-3"/>
          <p:cNvSpPr/>
          <p:nvPr/>
        </p:nvSpPr>
        <p:spPr>
          <a:xfrm>
            <a:off x="548640" y="13258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badge-4"/>
          <p:cNvSpPr/>
          <p:nvPr/>
        </p:nvSpPr>
        <p:spPr>
          <a:xfrm>
            <a:off x="822960" y="17099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adge-t-5"/>
          <p:cNvSpPr txBox="1"/>
          <p:nvPr/>
        </p:nvSpPr>
        <p:spPr>
          <a:xfrm>
            <a:off x="822960" y="1709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ol-h-6"/>
          <p:cNvSpPr txBox="1"/>
          <p:nvPr/>
        </p:nvSpPr>
        <p:spPr>
          <a:xfrm>
            <a:off x="1645920" y="15270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Abstract</a:t>
            </a:r>
            <a:endParaRPr lang="en-US" sz="1900" dirty="0"/>
          </a:p>
        </p:txBody>
      </p:sp>
      <p:sp>
        <p:nvSpPr>
          <p:cNvPr id="8" name="ol-b-7"/>
          <p:cNvSpPr txBox="1"/>
          <p:nvPr/>
        </p:nvSpPr>
        <p:spPr>
          <a:xfrm>
            <a:off x="1645920" y="19842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the system does, in brief</a:t>
            </a:r>
            <a:endParaRPr lang="en-US" sz="1400" dirty="0"/>
          </a:p>
        </p:txBody>
      </p:sp>
      <p:sp>
        <p:nvSpPr>
          <p:cNvPr id="9" name="card-8"/>
          <p:cNvSpPr/>
          <p:nvPr/>
        </p:nvSpPr>
        <p:spPr>
          <a:xfrm>
            <a:off x="6172200" y="13258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badge-9"/>
          <p:cNvSpPr/>
          <p:nvPr/>
        </p:nvSpPr>
        <p:spPr>
          <a:xfrm>
            <a:off x="6446520" y="17099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badge-t-10"/>
          <p:cNvSpPr txBox="1"/>
          <p:nvPr/>
        </p:nvSpPr>
        <p:spPr>
          <a:xfrm>
            <a:off x="6446520" y="1709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ol-h-11"/>
          <p:cNvSpPr txBox="1"/>
          <p:nvPr/>
        </p:nvSpPr>
        <p:spPr>
          <a:xfrm>
            <a:off x="7269480" y="15270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Introduction</a:t>
            </a:r>
            <a:endParaRPr lang="en-US" sz="1900" dirty="0"/>
          </a:p>
        </p:txBody>
      </p:sp>
      <p:sp>
        <p:nvSpPr>
          <p:cNvPr id="13" name="ol-b-12"/>
          <p:cNvSpPr txBox="1"/>
          <p:nvPr/>
        </p:nvSpPr>
        <p:spPr>
          <a:xfrm>
            <a:off x="7269480" y="19842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Background, problem definition, existing and proposed applications</a:t>
            </a:r>
            <a:endParaRPr lang="en-US" sz="1400" dirty="0"/>
          </a:p>
        </p:txBody>
      </p:sp>
      <p:sp>
        <p:nvSpPr>
          <p:cNvPr id="14" name="card-13"/>
          <p:cNvSpPr/>
          <p:nvPr/>
        </p:nvSpPr>
        <p:spPr>
          <a:xfrm>
            <a:off x="54864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badge-14"/>
          <p:cNvSpPr/>
          <p:nvPr/>
        </p:nvSpPr>
        <p:spPr>
          <a:xfrm>
            <a:off x="822960" y="33101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badge-t-15"/>
          <p:cNvSpPr txBox="1"/>
          <p:nvPr/>
        </p:nvSpPr>
        <p:spPr>
          <a:xfrm>
            <a:off x="822960" y="3310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ol-h-16"/>
          <p:cNvSpPr txBox="1"/>
          <p:nvPr/>
        </p:nvSpPr>
        <p:spPr>
          <a:xfrm>
            <a:off x="1645920" y="3127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Requirements</a:t>
            </a:r>
            <a:endParaRPr lang="en-US" sz="1900" dirty="0"/>
          </a:p>
        </p:txBody>
      </p:sp>
      <p:sp>
        <p:nvSpPr>
          <p:cNvPr id="18" name="ol-b-17"/>
          <p:cNvSpPr txBox="1"/>
          <p:nvPr/>
        </p:nvSpPr>
        <p:spPr>
          <a:xfrm>
            <a:off x="1645920" y="35844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and hardware specifications</a:t>
            </a:r>
            <a:endParaRPr lang="en-US" sz="1400" dirty="0"/>
          </a:p>
        </p:txBody>
      </p:sp>
      <p:sp>
        <p:nvSpPr>
          <p:cNvPr id="19" name="card-18"/>
          <p:cNvSpPr/>
          <p:nvPr/>
        </p:nvSpPr>
        <p:spPr>
          <a:xfrm>
            <a:off x="6172200" y="29260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badge-19"/>
          <p:cNvSpPr/>
          <p:nvPr/>
        </p:nvSpPr>
        <p:spPr>
          <a:xfrm>
            <a:off x="6446520" y="33101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badge-t-20"/>
          <p:cNvSpPr txBox="1"/>
          <p:nvPr/>
        </p:nvSpPr>
        <p:spPr>
          <a:xfrm>
            <a:off x="6446520" y="3310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ol-h-21"/>
          <p:cNvSpPr txBox="1"/>
          <p:nvPr/>
        </p:nvSpPr>
        <p:spPr>
          <a:xfrm>
            <a:off x="7269480" y="3127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Literature Survey</a:t>
            </a:r>
            <a:endParaRPr lang="en-US" sz="1900" dirty="0"/>
          </a:p>
        </p:txBody>
      </p:sp>
      <p:sp>
        <p:nvSpPr>
          <p:cNvPr id="23" name="ol-b-22"/>
          <p:cNvSpPr txBox="1"/>
          <p:nvPr/>
        </p:nvSpPr>
        <p:spPr>
          <a:xfrm>
            <a:off x="7269480" y="35844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 related works and the research gap</a:t>
            </a:r>
            <a:endParaRPr lang="en-US" sz="1400" dirty="0"/>
          </a:p>
        </p:txBody>
      </p:sp>
      <p:sp>
        <p:nvSpPr>
          <p:cNvPr id="24" name="card-23"/>
          <p:cNvSpPr/>
          <p:nvPr/>
        </p:nvSpPr>
        <p:spPr>
          <a:xfrm>
            <a:off x="548640" y="45262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badge-24"/>
          <p:cNvSpPr/>
          <p:nvPr/>
        </p:nvSpPr>
        <p:spPr>
          <a:xfrm>
            <a:off x="822960" y="49103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badge-t-25"/>
          <p:cNvSpPr txBox="1"/>
          <p:nvPr/>
        </p:nvSpPr>
        <p:spPr>
          <a:xfrm>
            <a:off x="822960" y="4910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ol-h-26"/>
          <p:cNvSpPr txBox="1"/>
          <p:nvPr/>
        </p:nvSpPr>
        <p:spPr>
          <a:xfrm>
            <a:off x="1645920" y="4727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Design Methodology</a:t>
            </a:r>
            <a:endParaRPr lang="en-US" sz="1900" dirty="0"/>
          </a:p>
        </p:txBody>
      </p:sp>
      <p:sp>
        <p:nvSpPr>
          <p:cNvPr id="28" name="ol-b-27"/>
          <p:cNvSpPr txBox="1"/>
          <p:nvPr/>
        </p:nvSpPr>
        <p:spPr>
          <a:xfrm>
            <a:off x="1645920" y="51846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Architecture, hardware, algorithm, ML pipeline, mobile app</a:t>
            </a:r>
            <a:endParaRPr lang="en-US" sz="1400" dirty="0"/>
          </a:p>
        </p:txBody>
      </p:sp>
      <p:sp>
        <p:nvSpPr>
          <p:cNvPr id="29" name="card-28"/>
          <p:cNvSpPr/>
          <p:nvPr/>
        </p:nvSpPr>
        <p:spPr>
          <a:xfrm>
            <a:off x="6172200" y="4526280"/>
            <a:ext cx="54406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badge-29"/>
          <p:cNvSpPr/>
          <p:nvPr/>
        </p:nvSpPr>
        <p:spPr>
          <a:xfrm>
            <a:off x="6446520" y="49103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badge-t-30"/>
          <p:cNvSpPr txBox="1"/>
          <p:nvPr/>
        </p:nvSpPr>
        <p:spPr>
          <a:xfrm>
            <a:off x="6446520" y="4910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ol-h-31"/>
          <p:cNvSpPr txBox="1"/>
          <p:nvPr/>
        </p:nvSpPr>
        <p:spPr>
          <a:xfrm>
            <a:off x="7269480" y="4727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Implementation Plan</a:t>
            </a:r>
            <a:endParaRPr lang="en-US" sz="1900" dirty="0"/>
          </a:p>
        </p:txBody>
      </p:sp>
      <p:sp>
        <p:nvSpPr>
          <p:cNvPr id="33" name="ol-b-32"/>
          <p:cNvSpPr txBox="1"/>
          <p:nvPr/>
        </p:nvSpPr>
        <p:spPr>
          <a:xfrm>
            <a:off x="7269480" y="51846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Step-by-step build and evaluation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card-33"/>
          <p:cNvSpPr/>
          <p:nvPr/>
        </p:nvSpPr>
        <p:spPr>
          <a:xfrm>
            <a:off x="548640" y="1280160"/>
            <a:ext cx="6035040" cy="4892040"/>
          </a:xfrm>
          <a:prstGeom prst="roundRect">
            <a:avLst>
              <a:gd name="adj" fmla="val 14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bs-text"/>
          <p:cNvSpPr txBox="1"/>
          <p:nvPr/>
        </p:nvSpPr>
        <p:spPr>
          <a:xfrm>
            <a:off x="822960" y="1554480"/>
            <a:ext cx="54864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Underground cable faults are hard to locate, causing long outages and costly excavation. Conventional methods such as loop tests and TDR are expensive and work only after a failure.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This project builds a low-cost ESP32 system on a current-limited cable simulator. It monitors supply-side and load-side voltage, current, and temperature (TMP117), detects open and short circuits, and estimates fault distance using Ohm's law.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Data is sent over Wi-Fi to an Android app, where a machine-learning model classifies the cable condition in the background and is compared with a baseline algorithm. Trend analysis gives a cable health index for predictive maintenance.</a:t>
            </a:r>
            <a:endParaRPr lang="en-US" sz="1700" dirty="0"/>
          </a:p>
        </p:txBody>
      </p:sp>
      <p:sp>
        <p:nvSpPr>
          <p:cNvPr id="6" name="badge-34"/>
          <p:cNvSpPr/>
          <p:nvPr/>
        </p:nvSpPr>
        <p:spPr>
          <a:xfrm>
            <a:off x="6949440" y="138988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-t-35"/>
          <p:cNvSpPr txBox="1"/>
          <p:nvPr/>
        </p:nvSpPr>
        <p:spPr>
          <a:xfrm>
            <a:off x="6949440" y="1389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ft-h-36"/>
          <p:cNvSpPr txBox="1"/>
          <p:nvPr/>
        </p:nvSpPr>
        <p:spPr>
          <a:xfrm>
            <a:off x="768096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800" dirty="0"/>
          </a:p>
        </p:txBody>
      </p:sp>
      <p:sp>
        <p:nvSpPr>
          <p:cNvPr id="9" name="ft-b-37"/>
          <p:cNvSpPr txBox="1"/>
          <p:nvPr/>
        </p:nvSpPr>
        <p:spPr>
          <a:xfrm>
            <a:off x="768096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Open-circuit, short-circuit and abnormal conditions</a:t>
            </a:r>
            <a:endParaRPr lang="en-US" sz="1400" dirty="0"/>
          </a:p>
        </p:txBody>
      </p:sp>
      <p:sp>
        <p:nvSpPr>
          <p:cNvPr id="10" name="badge-38"/>
          <p:cNvSpPr/>
          <p:nvPr/>
        </p:nvSpPr>
        <p:spPr>
          <a:xfrm>
            <a:off x="6949440" y="23682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-39"/>
          <p:cNvSpPr txBox="1"/>
          <p:nvPr/>
        </p:nvSpPr>
        <p:spPr>
          <a:xfrm>
            <a:off x="6949440" y="2368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ft-h-40"/>
          <p:cNvSpPr txBox="1"/>
          <p:nvPr/>
        </p:nvSpPr>
        <p:spPr>
          <a:xfrm>
            <a:off x="768096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Locate</a:t>
            </a:r>
            <a:endParaRPr lang="en-US" sz="1800" dirty="0"/>
          </a:p>
        </p:txBody>
      </p:sp>
      <p:sp>
        <p:nvSpPr>
          <p:cNvPr id="13" name="ft-b-41"/>
          <p:cNvSpPr txBox="1"/>
          <p:nvPr/>
        </p:nvSpPr>
        <p:spPr>
          <a:xfrm>
            <a:off x="7680960" y="2670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Fault distance from calibrated measurements</a:t>
            </a:r>
            <a:endParaRPr lang="en-US" sz="1400" dirty="0"/>
          </a:p>
        </p:txBody>
      </p:sp>
      <p:sp>
        <p:nvSpPr>
          <p:cNvPr id="14" name="badge-42"/>
          <p:cNvSpPr/>
          <p:nvPr/>
        </p:nvSpPr>
        <p:spPr>
          <a:xfrm>
            <a:off x="6949440" y="334670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-43"/>
          <p:cNvSpPr txBox="1"/>
          <p:nvPr/>
        </p:nvSpPr>
        <p:spPr>
          <a:xfrm>
            <a:off x="694944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ft-h-44"/>
          <p:cNvSpPr txBox="1"/>
          <p:nvPr/>
        </p:nvSpPr>
        <p:spPr>
          <a:xfrm>
            <a:off x="7680960" y="3236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Diagnose</a:t>
            </a:r>
            <a:endParaRPr lang="en-US" sz="1800" dirty="0"/>
          </a:p>
        </p:txBody>
      </p:sp>
      <p:sp>
        <p:nvSpPr>
          <p:cNvPr id="17" name="ft-b-45"/>
          <p:cNvSpPr txBox="1"/>
          <p:nvPr/>
        </p:nvSpPr>
        <p:spPr>
          <a:xfrm>
            <a:off x="7680960" y="36484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ML classification in the mobile app</a:t>
            </a:r>
            <a:endParaRPr lang="en-US" sz="1400" dirty="0"/>
          </a:p>
        </p:txBody>
      </p:sp>
      <p:sp>
        <p:nvSpPr>
          <p:cNvPr id="18" name="badge-46"/>
          <p:cNvSpPr/>
          <p:nvPr/>
        </p:nvSpPr>
        <p:spPr>
          <a:xfrm>
            <a:off x="6949440" y="43251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-t-47"/>
          <p:cNvSpPr txBox="1"/>
          <p:nvPr/>
        </p:nvSpPr>
        <p:spPr>
          <a:xfrm>
            <a:off x="694944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ft-h-48"/>
          <p:cNvSpPr txBox="1"/>
          <p:nvPr/>
        </p:nvSpPr>
        <p:spPr>
          <a:xfrm>
            <a:off x="7680960" y="42153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</a:t>
            </a:r>
            <a:endParaRPr lang="en-US" sz="1800" dirty="0"/>
          </a:p>
        </p:txBody>
      </p:sp>
      <p:sp>
        <p:nvSpPr>
          <p:cNvPr id="21" name="ft-b-49"/>
          <p:cNvSpPr txBox="1"/>
          <p:nvPr/>
        </p:nvSpPr>
        <p:spPr>
          <a:xfrm>
            <a:off x="7680960" y="4626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Buzzer, LEDs, OLED and app notifications</a:t>
            </a:r>
            <a:endParaRPr lang="en-US" sz="1400" dirty="0"/>
          </a:p>
        </p:txBody>
      </p:sp>
      <p:sp>
        <p:nvSpPr>
          <p:cNvPr id="22" name="badge-50"/>
          <p:cNvSpPr/>
          <p:nvPr/>
        </p:nvSpPr>
        <p:spPr>
          <a:xfrm>
            <a:off x="6949440" y="53035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-t-51"/>
          <p:cNvSpPr txBox="1"/>
          <p:nvPr/>
        </p:nvSpPr>
        <p:spPr>
          <a:xfrm>
            <a:off x="6949440" y="5303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ft-h-52"/>
          <p:cNvSpPr txBox="1"/>
          <p:nvPr/>
        </p:nvSpPr>
        <p:spPr>
          <a:xfrm>
            <a:off x="7680960" y="51937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</a:t>
            </a:r>
            <a:endParaRPr lang="en-US" sz="1800" dirty="0"/>
          </a:p>
        </p:txBody>
      </p:sp>
      <p:sp>
        <p:nvSpPr>
          <p:cNvPr id="25" name="ft-b-53"/>
          <p:cNvSpPr txBox="1"/>
          <p:nvPr/>
        </p:nvSpPr>
        <p:spPr>
          <a:xfrm>
            <a:off x="7680960" y="5605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 index from historical trends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54"/>
          <p:cNvSpPr txBox="1"/>
          <p:nvPr/>
        </p:nvSpPr>
        <p:spPr>
          <a:xfrm>
            <a:off x="91440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 •  Problem Definition  •  Existing &amp; Proposed Applications  •  Requirements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3000" dirty="0"/>
          </a:p>
        </p:txBody>
      </p:sp>
      <p:sp>
        <p:nvSpPr>
          <p:cNvPr id="4" name="bg-list"/>
          <p:cNvSpPr txBox="1"/>
          <p:nvPr/>
        </p:nvSpPr>
        <p:spPr>
          <a:xfrm>
            <a:off x="548640" y="132588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Underground cables are widely used in cities, industries and campuses: safer, weather-protected and reliable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Being buried, a fault cannot be seen; crews often excavate long stretches to find it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faults start slowly as joint heating, voltage drop or irregular current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Low-cost embedded systems, IoT and ML now make continuous, intelligent monitoring possible</a:t>
            </a:r>
            <a:endParaRPr lang="en-US" sz="1600" dirty="0"/>
          </a:p>
        </p:txBody>
      </p:sp>
      <p:sp>
        <p:nvSpPr>
          <p:cNvPr id="5" name="card-55"/>
          <p:cNvSpPr/>
          <p:nvPr/>
        </p:nvSpPr>
        <p:spPr>
          <a:xfrm>
            <a:off x="6766560" y="13258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FDECEA"/>
          </a:solidFill>
          <a:ln w="12700">
            <a:solidFill>
              <a:srgbClr val="F5C6C0"/>
            </a:solidFill>
            <a:prstDash val="solid"/>
          </a:ln>
        </p:spPr>
      </p:sp>
      <p:sp>
        <p:nvSpPr>
          <p:cNvPr id="6" name="oc-h"/>
          <p:cNvSpPr txBox="1"/>
          <p:nvPr/>
        </p:nvSpPr>
        <p:spPr>
          <a:xfrm>
            <a:off x="7040880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Open-Circuit Fault</a:t>
            </a:r>
            <a:endParaRPr lang="en-US" sz="1900" dirty="0"/>
          </a:p>
        </p:txBody>
      </p:sp>
      <p:sp>
        <p:nvSpPr>
          <p:cNvPr id="7" name="oc-b"/>
          <p:cNvSpPr txBox="1"/>
          <p:nvPr/>
        </p:nvSpPr>
        <p:spPr>
          <a:xfrm>
            <a:off x="7040880" y="20116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conductor breaks, so current stops flowing to the load. Load-side voltage and current fall to almost zero.</a:t>
            </a:r>
            <a:endParaRPr lang="en-US" sz="1500" dirty="0"/>
          </a:p>
        </p:txBody>
      </p:sp>
      <p:sp>
        <p:nvSpPr>
          <p:cNvPr id="8" name="card-56"/>
          <p:cNvSpPr/>
          <p:nvPr/>
        </p:nvSpPr>
        <p:spPr>
          <a:xfrm>
            <a:off x="6766560" y="3840480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FEF6DC"/>
          </a:solidFill>
          <a:ln w="12700">
            <a:solidFill>
              <a:srgbClr val="F6E3A4"/>
            </a:solidFill>
            <a:prstDash val="solid"/>
          </a:ln>
        </p:spPr>
      </p:sp>
      <p:sp>
        <p:nvSpPr>
          <p:cNvPr id="9" name="sc-h"/>
          <p:cNvSpPr txBox="1"/>
          <p:nvPr/>
        </p:nvSpPr>
        <p:spPr>
          <a:xfrm>
            <a:off x="7040880" y="4023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B00"/>
                </a:solidFill>
              </a:rPr>
              <a:t>Short-Circuit Fault</a:t>
            </a:r>
            <a:endParaRPr lang="en-US" sz="1900" dirty="0"/>
          </a:p>
        </p:txBody>
      </p:sp>
      <p:sp>
        <p:nvSpPr>
          <p:cNvPr id="10" name="sc-b"/>
          <p:cNvSpPr txBox="1"/>
          <p:nvPr/>
        </p:nvSpPr>
        <p:spPr>
          <a:xfrm>
            <a:off x="7040880" y="4526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unintended low-resistance path forms between conductors, causing high current and a sharp voltage drop.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000" dirty="0"/>
          </a:p>
        </p:txBody>
      </p:sp>
      <p:sp>
        <p:nvSpPr>
          <p:cNvPr id="4" name="card-57"/>
          <p:cNvSpPr/>
          <p:nvPr/>
        </p:nvSpPr>
        <p:spPr>
          <a:xfrm>
            <a:off x="54864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badge-58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-59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card-h-60"/>
          <p:cNvSpPr txBox="1"/>
          <p:nvPr/>
        </p:nvSpPr>
        <p:spPr>
          <a:xfrm>
            <a:off x="1417320" y="1508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Fault detection</a:t>
            </a:r>
            <a:endParaRPr lang="en-US" sz="1700" dirty="0"/>
          </a:p>
        </p:txBody>
      </p:sp>
      <p:sp>
        <p:nvSpPr>
          <p:cNvPr id="8" name="card-b-61"/>
          <p:cNvSpPr txBox="1"/>
          <p:nvPr/>
        </p:nvSpPr>
        <p:spPr>
          <a:xfrm>
            <a:off x="77724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Faults in buried cables are not detected automatically</a:t>
            </a:r>
            <a:endParaRPr lang="en-US" sz="1700" dirty="0"/>
          </a:p>
        </p:txBody>
      </p:sp>
      <p:sp>
        <p:nvSpPr>
          <p:cNvPr id="9" name="card-62"/>
          <p:cNvSpPr/>
          <p:nvPr/>
        </p:nvSpPr>
        <p:spPr>
          <a:xfrm>
            <a:off x="429768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badge-63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-64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card-h-65"/>
          <p:cNvSpPr txBox="1"/>
          <p:nvPr/>
        </p:nvSpPr>
        <p:spPr>
          <a:xfrm>
            <a:off x="5166360" y="1508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Fault location</a:t>
            </a:r>
            <a:endParaRPr lang="en-US" sz="1700" dirty="0"/>
          </a:p>
        </p:txBody>
      </p:sp>
      <p:sp>
        <p:nvSpPr>
          <p:cNvPr id="13" name="card-b-66"/>
          <p:cNvSpPr txBox="1"/>
          <p:nvPr/>
        </p:nvSpPr>
        <p:spPr>
          <a:xfrm>
            <a:off x="452628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TDR and loop tests are costly and need skilled operators</a:t>
            </a:r>
            <a:endParaRPr lang="en-US" sz="1700" dirty="0"/>
          </a:p>
        </p:txBody>
      </p:sp>
      <p:sp>
        <p:nvSpPr>
          <p:cNvPr id="14" name="card-67"/>
          <p:cNvSpPr/>
          <p:nvPr/>
        </p:nvSpPr>
        <p:spPr>
          <a:xfrm>
            <a:off x="8046720" y="13258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badge-68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-69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card-h-70"/>
          <p:cNvSpPr txBox="1"/>
          <p:nvPr/>
        </p:nvSpPr>
        <p:spPr>
          <a:xfrm>
            <a:off x="8915400" y="15087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Electrical monitoring</a:t>
            </a:r>
            <a:endParaRPr lang="en-US" sz="1700" dirty="0"/>
          </a:p>
        </p:txBody>
      </p:sp>
      <p:sp>
        <p:nvSpPr>
          <p:cNvPr id="18" name="card-b-71"/>
          <p:cNvSpPr txBox="1"/>
          <p:nvPr/>
        </p:nvSpPr>
        <p:spPr>
          <a:xfrm>
            <a:off x="8275320" y="21945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Voltage drop, overcurrent and near-zero current go unrecorded</a:t>
            </a:r>
            <a:endParaRPr lang="en-US" sz="1700" dirty="0"/>
          </a:p>
        </p:txBody>
      </p:sp>
      <p:sp>
        <p:nvSpPr>
          <p:cNvPr id="19" name="card-72"/>
          <p:cNvSpPr/>
          <p:nvPr/>
        </p:nvSpPr>
        <p:spPr>
          <a:xfrm>
            <a:off x="548640" y="38404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badge-73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-t-74"/>
          <p:cNvSpPr txBox="1"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card-h-75"/>
          <p:cNvSpPr txBox="1"/>
          <p:nvPr/>
        </p:nvSpPr>
        <p:spPr>
          <a:xfrm>
            <a:off x="1417320" y="4023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Thermal stress</a:t>
            </a:r>
            <a:endParaRPr lang="en-US" sz="1700" dirty="0"/>
          </a:p>
        </p:txBody>
      </p:sp>
      <p:sp>
        <p:nvSpPr>
          <p:cNvPr id="23" name="card-b-76"/>
          <p:cNvSpPr txBox="1"/>
          <p:nvPr/>
        </p:nvSpPr>
        <p:spPr>
          <a:xfrm>
            <a:off x="77724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Hot joints and loose terminations are rarely monitored</a:t>
            </a:r>
            <a:endParaRPr lang="en-US" sz="1700" dirty="0"/>
          </a:p>
        </p:txBody>
      </p:sp>
      <p:sp>
        <p:nvSpPr>
          <p:cNvPr id="24" name="card-77"/>
          <p:cNvSpPr/>
          <p:nvPr/>
        </p:nvSpPr>
        <p:spPr>
          <a:xfrm>
            <a:off x="4297680" y="38404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badge-78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-t-79"/>
          <p:cNvSpPr txBox="1"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card-h-80"/>
          <p:cNvSpPr txBox="1"/>
          <p:nvPr/>
        </p:nvSpPr>
        <p:spPr>
          <a:xfrm>
            <a:off x="5166360" y="4023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Rule-based limits</a:t>
            </a:r>
            <a:endParaRPr lang="en-US" sz="1700" dirty="0"/>
          </a:p>
        </p:txBody>
      </p:sp>
      <p:sp>
        <p:nvSpPr>
          <p:cNvPr id="28" name="card-b-81"/>
          <p:cNvSpPr txBox="1"/>
          <p:nvPr/>
        </p:nvSpPr>
        <p:spPr>
          <a:xfrm>
            <a:off x="452628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Fixed thresholds miss faults or raise false alarms</a:t>
            </a:r>
            <a:endParaRPr lang="en-US" sz="1700" dirty="0"/>
          </a:p>
        </p:txBody>
      </p:sp>
      <p:sp>
        <p:nvSpPr>
          <p:cNvPr id="29" name="card-82"/>
          <p:cNvSpPr/>
          <p:nvPr/>
        </p:nvSpPr>
        <p:spPr>
          <a:xfrm>
            <a:off x="8046720" y="3840480"/>
            <a:ext cx="356616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badge-83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-t-84"/>
          <p:cNvSpPr txBox="1"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card-h-85"/>
          <p:cNvSpPr txBox="1"/>
          <p:nvPr/>
        </p:nvSpPr>
        <p:spPr>
          <a:xfrm>
            <a:off x="8915400" y="4023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history or prediction</a:t>
            </a:r>
            <a:endParaRPr lang="en-US" sz="1700" dirty="0"/>
          </a:p>
        </p:txBody>
      </p:sp>
      <p:sp>
        <p:nvSpPr>
          <p:cNvPr id="33" name="card-b-86"/>
          <p:cNvSpPr txBox="1"/>
          <p:nvPr/>
        </p:nvSpPr>
        <p:spPr>
          <a:xfrm>
            <a:off x="8275320" y="47091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Without logged data, deterioration cannot be anticipated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Objectives</a:t>
            </a:r>
            <a:endParaRPr lang="en-US" sz="3000" dirty="0"/>
          </a:p>
        </p:txBody>
      </p:sp>
      <p:sp>
        <p:nvSpPr>
          <p:cNvPr id="4" name="card-87"/>
          <p:cNvSpPr/>
          <p:nvPr/>
        </p:nvSpPr>
        <p:spPr>
          <a:xfrm>
            <a:off x="548640" y="1280160"/>
            <a:ext cx="11064240" cy="1234440"/>
          </a:xfrm>
          <a:prstGeom prst="roundRect">
            <a:avLst>
              <a:gd name="adj" fmla="val 59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ps"/>
          <p:cNvSpPr txBox="1"/>
          <p:nvPr/>
        </p:nvSpPr>
        <p:spPr>
          <a:xfrm>
            <a:off x="822960" y="1325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 low-cost, safe and intelligent system that detects, locates and diagnoses underground cable faults, and warns of deterioration before failure.</a:t>
            </a:r>
            <a:endParaRPr lang="en-US" sz="1900" dirty="0"/>
          </a:p>
        </p:txBody>
      </p:sp>
      <p:sp>
        <p:nvSpPr>
          <p:cNvPr id="6" name="badge-88"/>
          <p:cNvSpPr/>
          <p:nvPr/>
        </p:nvSpPr>
        <p:spPr>
          <a:xfrm>
            <a:off x="548640" y="29443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-t-89"/>
          <p:cNvSpPr txBox="1"/>
          <p:nvPr/>
        </p:nvSpPr>
        <p:spPr>
          <a:xfrm>
            <a:off x="54864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obj-90"/>
          <p:cNvSpPr txBox="1"/>
          <p:nvPr/>
        </p:nvSpPr>
        <p:spPr>
          <a:xfrm>
            <a:off x="128016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Detect and classify open-circuit and short-circuit faults</a:t>
            </a:r>
            <a:endParaRPr lang="en-US" sz="1600" dirty="0"/>
          </a:p>
        </p:txBody>
      </p:sp>
      <p:sp>
        <p:nvSpPr>
          <p:cNvPr id="9" name="badge-91"/>
          <p:cNvSpPr/>
          <p:nvPr/>
        </p:nvSpPr>
        <p:spPr>
          <a:xfrm>
            <a:off x="6172200" y="294436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-92"/>
          <p:cNvSpPr txBox="1"/>
          <p:nvPr/>
        </p:nvSpPr>
        <p:spPr>
          <a:xfrm>
            <a:off x="617220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obj-93"/>
          <p:cNvSpPr txBox="1"/>
          <p:nvPr/>
        </p:nvSpPr>
        <p:spPr>
          <a:xfrm>
            <a:off x="6903720" y="2834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Estimate the fault distance from calibrated measurements</a:t>
            </a:r>
            <a:endParaRPr lang="en-US" sz="1600" dirty="0"/>
          </a:p>
        </p:txBody>
      </p:sp>
      <p:sp>
        <p:nvSpPr>
          <p:cNvPr id="12" name="badge-94"/>
          <p:cNvSpPr/>
          <p:nvPr/>
        </p:nvSpPr>
        <p:spPr>
          <a:xfrm>
            <a:off x="548640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-t-95"/>
          <p:cNvSpPr txBox="1"/>
          <p:nvPr/>
        </p:nvSpPr>
        <p:spPr>
          <a:xfrm>
            <a:off x="54864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obj-96"/>
          <p:cNvSpPr txBox="1"/>
          <p:nvPr/>
        </p:nvSpPr>
        <p:spPr>
          <a:xfrm>
            <a:off x="128016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Monitor voltage, current and temperature continuously</a:t>
            </a:r>
            <a:endParaRPr lang="en-US" sz="1600" dirty="0"/>
          </a:p>
        </p:txBody>
      </p:sp>
      <p:sp>
        <p:nvSpPr>
          <p:cNvPr id="15" name="badge-97"/>
          <p:cNvSpPr/>
          <p:nvPr/>
        </p:nvSpPr>
        <p:spPr>
          <a:xfrm>
            <a:off x="6172200" y="404164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-98"/>
          <p:cNvSpPr txBox="1"/>
          <p:nvPr/>
        </p:nvSpPr>
        <p:spPr>
          <a:xfrm>
            <a:off x="617220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obj-99"/>
          <p:cNvSpPr txBox="1"/>
          <p:nvPr/>
        </p:nvSpPr>
        <p:spPr>
          <a:xfrm>
            <a:off x="6903720" y="3931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Improve diagnosis with ML over a baseline algorithm</a:t>
            </a:r>
            <a:endParaRPr lang="en-US" sz="1600" dirty="0"/>
          </a:p>
        </p:txBody>
      </p:sp>
      <p:sp>
        <p:nvSpPr>
          <p:cNvPr id="18" name="badge-100"/>
          <p:cNvSpPr/>
          <p:nvPr/>
        </p:nvSpPr>
        <p:spPr>
          <a:xfrm>
            <a:off x="548640" y="51389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-t-101"/>
          <p:cNvSpPr txBox="1"/>
          <p:nvPr/>
        </p:nvSpPr>
        <p:spPr>
          <a:xfrm>
            <a:off x="54864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obj-102"/>
          <p:cNvSpPr txBox="1"/>
          <p:nvPr/>
        </p:nvSpPr>
        <p:spPr>
          <a:xfrm>
            <a:off x="128016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Show live data and alerts in a mobile app and on the device</a:t>
            </a:r>
            <a:endParaRPr lang="en-US" sz="1600" dirty="0"/>
          </a:p>
        </p:txBody>
      </p:sp>
      <p:sp>
        <p:nvSpPr>
          <p:cNvPr id="21" name="badge-103"/>
          <p:cNvSpPr/>
          <p:nvPr/>
        </p:nvSpPr>
        <p:spPr>
          <a:xfrm>
            <a:off x="6172200" y="51389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adge-t-104"/>
          <p:cNvSpPr txBox="1"/>
          <p:nvPr/>
        </p:nvSpPr>
        <p:spPr>
          <a:xfrm>
            <a:off x="6172200" y="5138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obj-105"/>
          <p:cNvSpPr txBox="1"/>
          <p:nvPr/>
        </p:nvSpPr>
        <p:spPr>
          <a:xfrm>
            <a:off x="690372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Log events and analyse trends for early warning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Applications</a:t>
            </a:r>
            <a:endParaRPr lang="en-US" sz="3000" dirty="0"/>
          </a:p>
        </p:txBody>
      </p:sp>
      <p:sp>
        <p:nvSpPr>
          <p:cNvPr id="4" name="card-106"/>
          <p:cNvSpPr/>
          <p:nvPr/>
        </p:nvSpPr>
        <p:spPr>
          <a:xfrm>
            <a:off x="548640" y="1325880"/>
            <a:ext cx="3566160" cy="39776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ex-h-107"/>
          <p:cNvSpPr txBox="1"/>
          <p:nvPr/>
        </p:nvSpPr>
        <p:spPr>
          <a:xfrm>
            <a:off x="77724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Conventional Methods</a:t>
            </a:r>
            <a:endParaRPr lang="en-US" sz="1900" dirty="0"/>
          </a:p>
        </p:txBody>
      </p:sp>
      <p:sp>
        <p:nvSpPr>
          <p:cNvPr id="6" name="ex-l1-108"/>
          <p:cNvSpPr txBox="1"/>
          <p:nvPr/>
        </p:nvSpPr>
        <p:spPr>
          <a:xfrm>
            <a:off x="7772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7" name="ex-b1-109"/>
          <p:cNvSpPr txBox="1"/>
          <p:nvPr/>
        </p:nvSpPr>
        <p:spPr>
          <a:xfrm>
            <a:off x="77724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Murray / Varley loop, TDR, thumper, sectionalising, acoustic tracing</a:t>
            </a:r>
            <a:endParaRPr lang="en-US" sz="1500" dirty="0"/>
          </a:p>
        </p:txBody>
      </p:sp>
      <p:sp>
        <p:nvSpPr>
          <p:cNvPr id="8" name="ex-l2-110"/>
          <p:cNvSpPr txBox="1"/>
          <p:nvPr/>
        </p:nvSpPr>
        <p:spPr>
          <a:xfrm>
            <a:off x="77724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9" name="ex-b2-111"/>
          <p:cNvSpPr txBox="1"/>
          <p:nvPr/>
        </p:nvSpPr>
        <p:spPr>
          <a:xfrm>
            <a:off x="777240" y="39319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Manual, offline, costly or destructive; need skilled operators</a:t>
            </a:r>
            <a:endParaRPr lang="en-US" sz="1500" dirty="0"/>
          </a:p>
        </p:txBody>
      </p:sp>
      <p:sp>
        <p:nvSpPr>
          <p:cNvPr id="10" name="card-112"/>
          <p:cNvSpPr/>
          <p:nvPr/>
        </p:nvSpPr>
        <p:spPr>
          <a:xfrm>
            <a:off x="4297680" y="1325880"/>
            <a:ext cx="3566160" cy="39776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ex-h-113"/>
          <p:cNvSpPr txBox="1"/>
          <p:nvPr/>
        </p:nvSpPr>
        <p:spPr>
          <a:xfrm>
            <a:off x="452628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Commercial Systems</a:t>
            </a:r>
            <a:endParaRPr lang="en-US" sz="1900" dirty="0"/>
          </a:p>
        </p:txBody>
      </p:sp>
      <p:sp>
        <p:nvSpPr>
          <p:cNvPr id="12" name="ex-l1-114"/>
          <p:cNvSpPr txBox="1"/>
          <p:nvPr/>
        </p:nvSpPr>
        <p:spPr>
          <a:xfrm>
            <a:off x="452628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3" name="ex-b1-115"/>
          <p:cNvSpPr txBox="1"/>
          <p:nvPr/>
        </p:nvSpPr>
        <p:spPr>
          <a:xfrm>
            <a:off x="452628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Fault-location vans and online monitoring for utilities</a:t>
            </a:r>
            <a:endParaRPr lang="en-US" sz="1500" dirty="0"/>
          </a:p>
        </p:txBody>
      </p:sp>
      <p:sp>
        <p:nvSpPr>
          <p:cNvPr id="14" name="ex-l2-116"/>
          <p:cNvSpPr txBox="1"/>
          <p:nvPr/>
        </p:nvSpPr>
        <p:spPr>
          <a:xfrm>
            <a:off x="452628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15" name="ex-b2-117"/>
          <p:cNvSpPr txBox="1"/>
          <p:nvPr/>
        </p:nvSpPr>
        <p:spPr>
          <a:xfrm>
            <a:off x="4526280" y="39319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Very expensive; used mostly on HV networks after a failure</a:t>
            </a:r>
            <a:endParaRPr lang="en-US" sz="1500" dirty="0"/>
          </a:p>
        </p:txBody>
      </p:sp>
      <p:sp>
        <p:nvSpPr>
          <p:cNvPr id="16" name="card-118"/>
          <p:cNvSpPr/>
          <p:nvPr/>
        </p:nvSpPr>
        <p:spPr>
          <a:xfrm>
            <a:off x="8046720" y="1325880"/>
            <a:ext cx="3566160" cy="397764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ex-h-119"/>
          <p:cNvSpPr txBox="1"/>
          <p:nvPr/>
        </p:nvSpPr>
        <p:spPr>
          <a:xfrm>
            <a:off x="82753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Microcontroller Prototypes</a:t>
            </a:r>
            <a:endParaRPr lang="en-US" sz="1900" dirty="0"/>
          </a:p>
        </p:txBody>
      </p:sp>
      <p:sp>
        <p:nvSpPr>
          <p:cNvPr id="18" name="ex-l1-120"/>
          <p:cNvSpPr txBox="1"/>
          <p:nvPr/>
        </p:nvSpPr>
        <p:spPr>
          <a:xfrm>
            <a:off x="827532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19" name="ex-b1-121"/>
          <p:cNvSpPr txBox="1"/>
          <p:nvPr/>
        </p:nvSpPr>
        <p:spPr>
          <a:xfrm>
            <a:off x="8275320" y="24231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Arduino / PIC with Ohm's-law resistor model, GSM or basic IoT</a:t>
            </a:r>
            <a:endParaRPr lang="en-US" sz="1500" dirty="0"/>
          </a:p>
        </p:txBody>
      </p:sp>
      <p:sp>
        <p:nvSpPr>
          <p:cNvPr id="20" name="ex-l2-122"/>
          <p:cNvSpPr txBox="1"/>
          <p:nvPr/>
        </p:nvSpPr>
        <p:spPr>
          <a:xfrm>
            <a:off x="8275320" y="3611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21" name="ex-b2-123"/>
          <p:cNvSpPr txBox="1"/>
          <p:nvPr/>
        </p:nvSpPr>
        <p:spPr>
          <a:xfrm>
            <a:off x="8275320" y="39319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Mostly short circuits only; fixed thresholds; no current or temperature trends</a:t>
            </a:r>
            <a:endParaRPr lang="en-US" sz="1500" dirty="0"/>
          </a:p>
        </p:txBody>
      </p:sp>
      <p:sp>
        <p:nvSpPr>
          <p:cNvPr id="22" name="card-124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EF6DC"/>
          </a:solidFill>
          <a:ln w="12700">
            <a:solidFill>
              <a:srgbClr val="F6E3A4"/>
            </a:solidFill>
            <a:prstDash val="solid"/>
          </a:ln>
        </p:spPr>
      </p:sp>
      <p:sp>
        <p:nvSpPr>
          <p:cNvPr id="23" name="gap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Gap: no low-cost platform combines detection, distance, V/I/T monitoring, ML diagnosis, IoT, logging and predictive health.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Application</a:t>
            </a:r>
            <a:endParaRPr lang="en-US" sz="3000" dirty="0"/>
          </a:p>
        </p:txBody>
      </p:sp>
      <p:sp>
        <p:nvSpPr>
          <p:cNvPr id="4" name="card-125"/>
          <p:cNvSpPr/>
          <p:nvPr/>
        </p:nvSpPr>
        <p:spPr>
          <a:xfrm>
            <a:off x="548640" y="1371600"/>
            <a:ext cx="34290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badge-126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-127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card-h-128"/>
          <p:cNvSpPr txBox="1"/>
          <p:nvPr/>
        </p:nvSpPr>
        <p:spPr>
          <a:xfrm>
            <a:off x="14173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Sense</a:t>
            </a:r>
            <a:endParaRPr lang="en-US" sz="1900" dirty="0"/>
          </a:p>
        </p:txBody>
      </p:sp>
      <p:sp>
        <p:nvSpPr>
          <p:cNvPr id="8" name="card-b-129"/>
          <p:cNvSpPr txBox="1"/>
          <p:nvPr/>
        </p:nvSpPr>
        <p:spPr>
          <a:xfrm>
            <a:off x="777240" y="2240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Cable simulator with calibrated resistor sections and fault switches. Sensors read Vs, VL, current and TMP117 temperature.</a:t>
            </a:r>
            <a:endParaRPr lang="en-US" sz="1700" dirty="0"/>
          </a:p>
        </p:txBody>
      </p:sp>
      <p:sp>
        <p:nvSpPr>
          <p:cNvPr id="9" name="arrow-130"/>
          <p:cNvSpPr/>
          <p:nvPr/>
        </p:nvSpPr>
        <p:spPr>
          <a:xfrm>
            <a:off x="4041648" y="2697480"/>
            <a:ext cx="347472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ard-131"/>
          <p:cNvSpPr/>
          <p:nvPr/>
        </p:nvSpPr>
        <p:spPr>
          <a:xfrm>
            <a:off x="4434840" y="1371600"/>
            <a:ext cx="34290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badge-132"/>
          <p:cNvSpPr/>
          <p:nvPr/>
        </p:nvSpPr>
        <p:spPr>
          <a:xfrm>
            <a:off x="46634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t-133"/>
          <p:cNvSpPr txBox="1"/>
          <p:nvPr/>
        </p:nvSpPr>
        <p:spPr>
          <a:xfrm>
            <a:off x="4663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card-h-134"/>
          <p:cNvSpPr txBox="1"/>
          <p:nvPr/>
        </p:nvSpPr>
        <p:spPr>
          <a:xfrm>
            <a:off x="53035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Process (ESP32)</a:t>
            </a:r>
            <a:endParaRPr lang="en-US" sz="1900" dirty="0"/>
          </a:p>
        </p:txBody>
      </p:sp>
      <p:sp>
        <p:nvSpPr>
          <p:cNvPr id="14" name="card-b-135"/>
          <p:cNvSpPr txBox="1"/>
          <p:nvPr/>
        </p:nvSpPr>
        <p:spPr>
          <a:xfrm>
            <a:off x="4663440" y="2240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Filtering and calibration, baseline fault detection, Ohm's-law distance estimation. Local OLED, buzzer and LED alerts.</a:t>
            </a:r>
            <a:endParaRPr lang="en-US" sz="1700" dirty="0"/>
          </a:p>
        </p:txBody>
      </p:sp>
      <p:sp>
        <p:nvSpPr>
          <p:cNvPr id="15" name="arrow-136"/>
          <p:cNvSpPr/>
          <p:nvPr/>
        </p:nvSpPr>
        <p:spPr>
          <a:xfrm>
            <a:off x="7927848" y="2697480"/>
            <a:ext cx="347472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card-137"/>
          <p:cNvSpPr/>
          <p:nvPr/>
        </p:nvSpPr>
        <p:spPr>
          <a:xfrm>
            <a:off x="8321040" y="1371600"/>
            <a:ext cx="342900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badge-138"/>
          <p:cNvSpPr/>
          <p:nvPr/>
        </p:nvSpPr>
        <p:spPr>
          <a:xfrm>
            <a:off x="8549640" y="1600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dge-t-139"/>
          <p:cNvSpPr txBox="1"/>
          <p:nvPr/>
        </p:nvSpPr>
        <p:spPr>
          <a:xfrm>
            <a:off x="8549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card-h-140"/>
          <p:cNvSpPr txBox="1"/>
          <p:nvPr/>
        </p:nvSpPr>
        <p:spPr>
          <a:xfrm>
            <a:off x="9189720" y="1554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Diagnose (App)</a:t>
            </a:r>
            <a:endParaRPr lang="en-US" sz="1900" dirty="0"/>
          </a:p>
        </p:txBody>
      </p:sp>
      <p:sp>
        <p:nvSpPr>
          <p:cNvPr id="20" name="card-b-141"/>
          <p:cNvSpPr txBox="1"/>
          <p:nvPr/>
        </p:nvSpPr>
        <p:spPr>
          <a:xfrm>
            <a:off x="8549640" y="224028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Data sent over Wi-Fi. Background ML model gives fault type and confidence. Dashboard, alerts, event log and health index.</a:t>
            </a:r>
            <a:endParaRPr lang="en-US" sz="1700" dirty="0"/>
          </a:p>
        </p:txBody>
      </p:sp>
      <p:sp>
        <p:nvSpPr>
          <p:cNvPr id="21" name="tag-142"/>
          <p:cNvSpPr/>
          <p:nvPr/>
        </p:nvSpPr>
        <p:spPr>
          <a:xfrm>
            <a:off x="548640" y="4937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ag-t-143"/>
          <p:cNvSpPr txBox="1"/>
          <p:nvPr/>
        </p:nvSpPr>
        <p:spPr>
          <a:xfrm>
            <a:off x="548640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Low-cost ESP32</a:t>
            </a:r>
            <a:endParaRPr lang="en-US" sz="1400" dirty="0"/>
          </a:p>
        </p:txBody>
      </p:sp>
      <p:sp>
        <p:nvSpPr>
          <p:cNvPr id="23" name="tag-144"/>
          <p:cNvSpPr/>
          <p:nvPr/>
        </p:nvSpPr>
        <p:spPr>
          <a:xfrm>
            <a:off x="2798064" y="4937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ag-t-145"/>
          <p:cNvSpPr txBox="1"/>
          <p:nvPr/>
        </p:nvSpPr>
        <p:spPr>
          <a:xfrm>
            <a:off x="2798064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Safe low-voltage setup</a:t>
            </a:r>
            <a:endParaRPr lang="en-US" sz="1400" dirty="0"/>
          </a:p>
        </p:txBody>
      </p:sp>
      <p:sp>
        <p:nvSpPr>
          <p:cNvPr id="25" name="tag-146"/>
          <p:cNvSpPr/>
          <p:nvPr/>
        </p:nvSpPr>
        <p:spPr>
          <a:xfrm>
            <a:off x="5047488" y="4937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ag-t-147"/>
          <p:cNvSpPr txBox="1"/>
          <p:nvPr/>
        </p:nvSpPr>
        <p:spPr>
          <a:xfrm>
            <a:off x="5047488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ML vs baseline comparison</a:t>
            </a:r>
            <a:endParaRPr lang="en-US" sz="1400" dirty="0"/>
          </a:p>
        </p:txBody>
      </p:sp>
      <p:sp>
        <p:nvSpPr>
          <p:cNvPr id="27" name="tag-148"/>
          <p:cNvSpPr/>
          <p:nvPr/>
        </p:nvSpPr>
        <p:spPr>
          <a:xfrm>
            <a:off x="7296912" y="4937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ag-t-149"/>
          <p:cNvSpPr txBox="1"/>
          <p:nvPr/>
        </p:nvSpPr>
        <p:spPr>
          <a:xfrm>
            <a:off x="7296912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Mobile APK</a:t>
            </a:r>
            <a:endParaRPr lang="en-US" sz="1400" dirty="0"/>
          </a:p>
        </p:txBody>
      </p:sp>
      <p:sp>
        <p:nvSpPr>
          <p:cNvPr id="29" name="tag-150"/>
          <p:cNvSpPr/>
          <p:nvPr/>
        </p:nvSpPr>
        <p:spPr>
          <a:xfrm>
            <a:off x="9546336" y="4937760"/>
            <a:ext cx="2103120" cy="64008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ag-t-151"/>
          <p:cNvSpPr txBox="1"/>
          <p:nvPr/>
        </p:nvSpPr>
        <p:spPr>
          <a:xfrm>
            <a:off x="9546336" y="4937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Predictive maintenance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Specification</a:t>
            </a:r>
            <a:endParaRPr lang="en-US" sz="3000" dirty="0"/>
          </a:p>
        </p:txBody>
      </p:sp>
      <p:sp>
        <p:nvSpPr>
          <p:cNvPr id="4" name="sw-h"/>
          <p:cNvSpPr txBox="1"/>
          <p:nvPr/>
        </p:nvSpPr>
        <p:spPr>
          <a:xfrm>
            <a:off x="548640" y="12344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Software</a:t>
            </a:r>
            <a:endParaRPr lang="en-US" sz="1900" dirty="0"/>
          </a:p>
        </p:txBody>
      </p:sp>
      <p:graphicFrame>
        <p:nvGraphicFramePr>
          <p:cNvPr id="11" name="s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 (64-bit) or Ubuntu 20.04+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IDE 2.x / VS Code + PlatformIO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Studio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C/C++, Kotlin/Java, Python 3.8+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libraries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NumPy, Pandas, Scikit-learn, TensorFlow 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with MQTT / 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(app), Firebase (optional)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8.0 or 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hw-h"/>
          <p:cNvSpPr txBox="1"/>
          <p:nvPr/>
        </p:nvSpPr>
        <p:spPr>
          <a:xfrm>
            <a:off x="6309360" y="1234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Hardware</a:t>
            </a:r>
            <a:endParaRPr lang="en-US" sz="1900" dirty="0"/>
          </a:p>
        </p:txBody>
      </p:sp>
      <p:graphicFrame>
        <p:nvGraphicFramePr>
          <p:cNvPr id="21" name="hw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611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(dual-core, built-in Wi-Fi)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sensing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voltage dividers (Vs, VL)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sensing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INA219 / ACS712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TMP117 digital sensor (I2C)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0.96"/1.3" OLED (SSD1306, I2C)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 and status LEDs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simulator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 network with fault switches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/ 12V DC, current-limited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152"/>
          <p:cNvSpPr txBox="1"/>
          <p:nvPr/>
        </p:nvSpPr>
        <p:spPr>
          <a:xfrm>
            <a:off x="91440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related works  •  IoT fault detectors, reviews and AI/ML methods  •  Research gap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(1/3)</a:t>
            </a:r>
            <a:endParaRPr lang="en-US" sz="3000" dirty="0"/>
          </a:p>
        </p:txBody>
      </p:sp>
      <p:graphicFrame>
        <p:nvGraphicFramePr>
          <p:cNvPr id="13" name="lit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731520"/>
                <a:gridCol w="1737360"/>
                <a:gridCol w="310896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K. Satyanarayana, S. N. Chandra Shekhar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ICCCNT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Arduino, current sensing, relay, Wi-Fi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circuits only; no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Jayachandran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ICoCET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detector with cloud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prediction only proposed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Jegadeesan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ICVADV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ESP32, thresholds, relays, GPS, IoT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temperature or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Sudhagar, R. Marimuthu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review of location methods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Riadul Islam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NCIM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Microcontroller, GSM and GPS localisation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ML; no 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INCET 2025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INCET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detection and monitoring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health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(2/3)</a:t>
            </a:r>
            <a:endParaRPr lang="en-US" sz="3000" dirty="0"/>
          </a:p>
        </p:txBody>
      </p:sp>
      <p:graphicFrame>
        <p:nvGraphicFramePr>
          <p:cNvPr id="14" name="lit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731520"/>
                <a:gridCol w="1737360"/>
                <a:gridCol w="310896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ICOCT 2025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resistance with GPS and GSM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H. Ali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 fault-finding industry practice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automated 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Zhou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Voltage (IET)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life-cycle management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Choudhary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 (MDPI)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Insulation ageing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real-world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Morales, N. Purushothaman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discharge diagnosis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Costly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Tao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 ageing monitoring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 and data challenges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(3/3)</a:t>
            </a:r>
            <a:endParaRPr lang="en-US" sz="3000" dirty="0"/>
          </a:p>
        </p:txBody>
      </p:sp>
      <p:graphicFrame>
        <p:nvGraphicFramePr>
          <p:cNvPr id="15" name="lit-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731520"/>
                <a:gridCol w="1737360"/>
                <a:gridCol w="310896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Emdadi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(MDPI)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XLPE monitoring and ML 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HV cables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Kumar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ISGT-LA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 cable predictive-maintenance use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Q. Shao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Energies (MDPI)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cable fault detection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hardware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1D-CNN + SVM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Simulation; heavy 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Zhao Hong-shan et 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IET SMT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function + autoencoder + CNN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measurement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Livani, C. Y. Evrenosoglu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Trans. PWRD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fault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Transmission lines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4" name="card-153"/>
          <p:cNvSpPr/>
          <p:nvPr/>
        </p:nvSpPr>
        <p:spPr>
          <a:xfrm>
            <a:off x="548640" y="1280160"/>
            <a:ext cx="6400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154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-155"/>
          <p:cNvSpPr txBox="1"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card-h-156"/>
          <p:cNvSpPr txBox="1"/>
          <p:nvPr/>
        </p:nvSpPr>
        <p:spPr>
          <a:xfrm>
            <a:off x="1417320" y="14630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IoT fault detectors [1-3, 5-7]</a:t>
            </a:r>
            <a:endParaRPr lang="en-US" sz="1700" dirty="0"/>
          </a:p>
        </p:txBody>
      </p:sp>
      <p:sp>
        <p:nvSpPr>
          <p:cNvPr id="8" name="card-b-157"/>
          <p:cNvSpPr txBox="1"/>
          <p:nvPr/>
        </p:nvSpPr>
        <p:spPr>
          <a:xfrm>
            <a:off x="777240" y="2148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Arduino/ESP32 with GSM, GPS or cloud. Threshold logic and resistance-based distance; little temperature monitoring and no ML in a mobile app.</a:t>
            </a:r>
            <a:endParaRPr lang="en-US" sz="1400" dirty="0"/>
          </a:p>
        </p:txBody>
      </p:sp>
      <p:sp>
        <p:nvSpPr>
          <p:cNvPr id="9" name="card-158"/>
          <p:cNvSpPr/>
          <p:nvPr/>
        </p:nvSpPr>
        <p:spPr>
          <a:xfrm>
            <a:off x="548640" y="2880360"/>
            <a:ext cx="6400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159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-160"/>
          <p:cNvSpPr txBox="1"/>
          <p:nvPr/>
        </p:nvSpPr>
        <p:spPr>
          <a:xfrm>
            <a:off x="777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card-h-161"/>
          <p:cNvSpPr txBox="1"/>
          <p:nvPr/>
        </p:nvSpPr>
        <p:spPr>
          <a:xfrm>
            <a:off x="1417320" y="30632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Reviews and practice [4, 8-14]</a:t>
            </a:r>
            <a:endParaRPr lang="en-US" sz="1700" dirty="0"/>
          </a:p>
        </p:txBody>
      </p:sp>
      <p:sp>
        <p:nvSpPr>
          <p:cNvPr id="13" name="card-b-162"/>
          <p:cNvSpPr txBox="1"/>
          <p:nvPr/>
        </p:nvSpPr>
        <p:spPr>
          <a:xfrm>
            <a:off x="777240" y="3749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Stress accurate location and condition monitoring for predictive maintenance, mostly for MV/HV cables.</a:t>
            </a:r>
            <a:endParaRPr lang="en-US" sz="1400" dirty="0"/>
          </a:p>
        </p:txBody>
      </p:sp>
      <p:sp>
        <p:nvSpPr>
          <p:cNvPr id="14" name="card-163"/>
          <p:cNvSpPr/>
          <p:nvPr/>
        </p:nvSpPr>
        <p:spPr>
          <a:xfrm>
            <a:off x="548640" y="4480560"/>
            <a:ext cx="6400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164"/>
          <p:cNvSpPr/>
          <p:nvPr/>
        </p:nvSpPr>
        <p:spPr>
          <a:xfrm>
            <a:off x="77724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-165"/>
          <p:cNvSpPr txBox="1"/>
          <p:nvPr/>
        </p:nvSpPr>
        <p:spPr>
          <a:xfrm>
            <a:off x="77724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card-h-166"/>
          <p:cNvSpPr txBox="1"/>
          <p:nvPr/>
        </p:nvSpPr>
        <p:spPr>
          <a:xfrm>
            <a:off x="1417320" y="466344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/ ML studies [15-18]</a:t>
            </a:r>
            <a:endParaRPr lang="en-US" sz="1700" dirty="0"/>
          </a:p>
        </p:txBody>
      </p:sp>
      <p:sp>
        <p:nvSpPr>
          <p:cNvPr id="18" name="card-b-167"/>
          <p:cNvSpPr txBox="1"/>
          <p:nvPr/>
        </p:nvSpPr>
        <p:spPr>
          <a:xfrm>
            <a:off x="77724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 classification accuracy, but on simulated data or high-end systems, not on low-cost embedded hardware.</a:t>
            </a:r>
            <a:endParaRPr lang="en-US" sz="1400" dirty="0"/>
          </a:p>
        </p:txBody>
      </p:sp>
      <p:sp>
        <p:nvSpPr>
          <p:cNvPr id="19" name="card-168"/>
          <p:cNvSpPr/>
          <p:nvPr/>
        </p:nvSpPr>
        <p:spPr>
          <a:xfrm>
            <a:off x="7315200" y="1280160"/>
            <a:ext cx="4297680" cy="4663440"/>
          </a:xfrm>
          <a:prstGeom prst="roundRect">
            <a:avLst>
              <a:gd name="adj" fmla="val 17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fill-h"/>
          <p:cNvSpPr txBox="1"/>
          <p:nvPr/>
        </p:nvSpPr>
        <p:spPr>
          <a:xfrm>
            <a:off x="758952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Our system fills the gap</a:t>
            </a:r>
            <a:endParaRPr lang="en-US" sz="1900" dirty="0"/>
          </a:p>
        </p:txBody>
      </p:sp>
      <p:sp>
        <p:nvSpPr>
          <p:cNvPr id="21" name="fill-list"/>
          <p:cNvSpPr txBox="1"/>
          <p:nvPr/>
        </p:nvSpPr>
        <p:spPr>
          <a:xfrm>
            <a:off x="7589520" y="2057400"/>
            <a:ext cx="3840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Calibrated distance estimation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Real-time V, I and T monitoring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ML diagnosis vs baseline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Mobile app with alerts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Event logging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Predictive health index</a:t>
            </a:r>
            <a:endParaRPr lang="en-US" sz="17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Low-cost ESP32 platform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-169"/>
          <p:cNvSpPr txBox="1"/>
          <p:nvPr/>
        </p:nvSpPr>
        <p:spPr>
          <a:xfrm>
            <a:off x="91440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Methodology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 •  Architecture  •  Hardware  •  Algorithm  •  ML pipeline  •  Mobile app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of the Proposed System</a:t>
            </a:r>
            <a:endParaRPr lang="en-US" sz="3000" dirty="0"/>
          </a:p>
        </p:txBody>
      </p:sp>
      <p:sp>
        <p:nvSpPr>
          <p:cNvPr id="4" name="frame-170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71" descr="Figure 3.1: Data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System Architecture</a:t>
            </a:r>
            <a:endParaRPr lang="en-US" sz="3000" dirty="0"/>
          </a:p>
        </p:txBody>
      </p:sp>
      <p:sp>
        <p:nvSpPr>
          <p:cNvPr id="4" name="frame-172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73" descr="Figure 3.2: Layered System Archit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Block Diagram</a:t>
            </a:r>
            <a:endParaRPr lang="en-US" sz="3000" dirty="0"/>
          </a:p>
        </p:txBody>
      </p:sp>
      <p:sp>
        <p:nvSpPr>
          <p:cNvPr id="4" name="frame-174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75" descr="Figure 3.3: Hardware Block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Cable Simulator and Fault Distance Estimation</a:t>
            </a:r>
            <a:endParaRPr lang="en-US" sz="3000" dirty="0"/>
          </a:p>
        </p:txBody>
      </p:sp>
      <p:sp>
        <p:nvSpPr>
          <p:cNvPr id="4" name="frame-176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77" descr="Figure 3.4: Cable Sim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Fault Detection Algorithm</a:t>
            </a:r>
            <a:endParaRPr lang="en-US" sz="3000" dirty="0"/>
          </a:p>
        </p:txBody>
      </p:sp>
      <p:sp>
        <p:nvSpPr>
          <p:cNvPr id="4" name="frame-178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79" descr="Figure 3.5: Baseline Fault Detection Algorith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frame-180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81" descr="Figure 3.6: Machine Learning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 and Predictive Health</a:t>
            </a:r>
            <a:endParaRPr lang="en-US" sz="3000" dirty="0"/>
          </a:p>
        </p:txBody>
      </p:sp>
      <p:sp>
        <p:nvSpPr>
          <p:cNvPr id="4" name="frame-182"/>
          <p:cNvSpPr/>
          <p:nvPr/>
        </p:nvSpPr>
        <p:spPr>
          <a:xfrm>
            <a:off x="1633576" y="1161288"/>
            <a:ext cx="8924544" cy="5084064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5DCE8"/>
            </a:solidFill>
            <a:prstDash val="solid"/>
          </a:ln>
        </p:spPr>
      </p:sp>
      <p:pic>
        <p:nvPicPr>
          <p:cNvPr id="5" name="fig-183" descr="Figure 3.7: Mobile Application and Predictive Health Monit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Plan</a:t>
            </a:r>
            <a:endParaRPr lang="en-US" sz="3000" dirty="0"/>
          </a:p>
        </p:txBody>
      </p:sp>
      <p:sp>
        <p:nvSpPr>
          <p:cNvPr id="4" name="card-184"/>
          <p:cNvSpPr/>
          <p:nvPr/>
        </p:nvSpPr>
        <p:spPr>
          <a:xfrm>
            <a:off x="548640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badge-185"/>
          <p:cNvSpPr/>
          <p:nvPr/>
        </p:nvSpPr>
        <p:spPr>
          <a:xfrm>
            <a:off x="777240" y="160020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adge-t-186"/>
          <p:cNvSpPr txBox="1"/>
          <p:nvPr/>
        </p:nvSpPr>
        <p:spPr>
          <a:xfrm>
            <a:off x="777240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tep-187"/>
          <p:cNvSpPr txBox="1"/>
          <p:nvPr/>
        </p:nvSpPr>
        <p:spPr>
          <a:xfrm>
            <a:off x="777240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Assemble cable simulator and sensor circuits</a:t>
            </a:r>
            <a:endParaRPr lang="en-US" sz="1700" dirty="0"/>
          </a:p>
        </p:txBody>
      </p:sp>
      <p:sp>
        <p:nvSpPr>
          <p:cNvPr id="8" name="card-188"/>
          <p:cNvSpPr/>
          <p:nvPr/>
        </p:nvSpPr>
        <p:spPr>
          <a:xfrm>
            <a:off x="3355848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badge-189"/>
          <p:cNvSpPr/>
          <p:nvPr/>
        </p:nvSpPr>
        <p:spPr>
          <a:xfrm>
            <a:off x="3584448" y="160020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badge-t-190"/>
          <p:cNvSpPr txBox="1"/>
          <p:nvPr/>
        </p:nvSpPr>
        <p:spPr>
          <a:xfrm>
            <a:off x="3584448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tep-191"/>
          <p:cNvSpPr txBox="1"/>
          <p:nvPr/>
        </p:nvSpPr>
        <p:spPr>
          <a:xfrm>
            <a:off x="3584448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ESP32 firmware: acquisition, filtering, calibration</a:t>
            </a:r>
            <a:endParaRPr lang="en-US" sz="1700" dirty="0"/>
          </a:p>
        </p:txBody>
      </p:sp>
      <p:sp>
        <p:nvSpPr>
          <p:cNvPr id="12" name="card-192"/>
          <p:cNvSpPr/>
          <p:nvPr/>
        </p:nvSpPr>
        <p:spPr>
          <a:xfrm>
            <a:off x="6163056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badge-193"/>
          <p:cNvSpPr/>
          <p:nvPr/>
        </p:nvSpPr>
        <p:spPr>
          <a:xfrm>
            <a:off x="6391656" y="160020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badge-t-194"/>
          <p:cNvSpPr txBox="1"/>
          <p:nvPr/>
        </p:nvSpPr>
        <p:spPr>
          <a:xfrm>
            <a:off x="6391656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tep-195"/>
          <p:cNvSpPr txBox="1"/>
          <p:nvPr/>
        </p:nvSpPr>
        <p:spPr>
          <a:xfrm>
            <a:off x="6391656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Baseline fault detection and distance estimation</a:t>
            </a:r>
            <a:endParaRPr lang="en-US" sz="1700" dirty="0"/>
          </a:p>
        </p:txBody>
      </p:sp>
      <p:sp>
        <p:nvSpPr>
          <p:cNvPr id="16" name="card-196"/>
          <p:cNvSpPr/>
          <p:nvPr/>
        </p:nvSpPr>
        <p:spPr>
          <a:xfrm>
            <a:off x="8970264" y="137160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badge-197"/>
          <p:cNvSpPr/>
          <p:nvPr/>
        </p:nvSpPr>
        <p:spPr>
          <a:xfrm>
            <a:off x="9198864" y="160020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badge-t-198"/>
          <p:cNvSpPr txBox="1"/>
          <p:nvPr/>
        </p:nvSpPr>
        <p:spPr>
          <a:xfrm>
            <a:off x="9198864" y="1600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tep-199"/>
          <p:cNvSpPr txBox="1"/>
          <p:nvPr/>
        </p:nvSpPr>
        <p:spPr>
          <a:xfrm>
            <a:off x="9198864" y="23317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Collect and label dataset under all conditions</a:t>
            </a:r>
            <a:endParaRPr lang="en-US" sz="1700" dirty="0"/>
          </a:p>
        </p:txBody>
      </p:sp>
      <p:sp>
        <p:nvSpPr>
          <p:cNvPr id="20" name="card-200"/>
          <p:cNvSpPr/>
          <p:nvPr/>
        </p:nvSpPr>
        <p:spPr>
          <a:xfrm>
            <a:off x="548640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1" name="badge-201"/>
          <p:cNvSpPr/>
          <p:nvPr/>
        </p:nvSpPr>
        <p:spPr>
          <a:xfrm>
            <a:off x="777240" y="402336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badge-t-202"/>
          <p:cNvSpPr txBox="1"/>
          <p:nvPr/>
        </p:nvSpPr>
        <p:spPr>
          <a:xfrm>
            <a:off x="777240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tep-203"/>
          <p:cNvSpPr txBox="1"/>
          <p:nvPr/>
        </p:nvSpPr>
        <p:spPr>
          <a:xfrm>
            <a:off x="777240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Train, evaluate and export the ML model</a:t>
            </a:r>
            <a:endParaRPr lang="en-US" sz="1700" dirty="0"/>
          </a:p>
        </p:txBody>
      </p:sp>
      <p:sp>
        <p:nvSpPr>
          <p:cNvPr id="24" name="card-204"/>
          <p:cNvSpPr/>
          <p:nvPr/>
        </p:nvSpPr>
        <p:spPr>
          <a:xfrm>
            <a:off x="3355848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badge-205"/>
          <p:cNvSpPr/>
          <p:nvPr/>
        </p:nvSpPr>
        <p:spPr>
          <a:xfrm>
            <a:off x="3584448" y="402336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badge-t-206"/>
          <p:cNvSpPr txBox="1"/>
          <p:nvPr/>
        </p:nvSpPr>
        <p:spPr>
          <a:xfrm>
            <a:off x="3584448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tep-207"/>
          <p:cNvSpPr txBox="1"/>
          <p:nvPr/>
        </p:nvSpPr>
        <p:spPr>
          <a:xfrm>
            <a:off x="3584448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Develop the Android app and Wi-Fi link</a:t>
            </a:r>
            <a:endParaRPr lang="en-US" sz="1700" dirty="0"/>
          </a:p>
        </p:txBody>
      </p:sp>
      <p:sp>
        <p:nvSpPr>
          <p:cNvPr id="28" name="card-208"/>
          <p:cNvSpPr/>
          <p:nvPr/>
        </p:nvSpPr>
        <p:spPr>
          <a:xfrm>
            <a:off x="6163056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9" name="badge-209"/>
          <p:cNvSpPr/>
          <p:nvPr/>
        </p:nvSpPr>
        <p:spPr>
          <a:xfrm>
            <a:off x="6391656" y="402336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badge-t-210"/>
          <p:cNvSpPr txBox="1"/>
          <p:nvPr/>
        </p:nvSpPr>
        <p:spPr>
          <a:xfrm>
            <a:off x="6391656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step-211"/>
          <p:cNvSpPr txBox="1"/>
          <p:nvPr/>
        </p:nvSpPr>
        <p:spPr>
          <a:xfrm>
            <a:off x="6391656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Alerts, data logging and health analysis</a:t>
            </a:r>
            <a:endParaRPr lang="en-US" sz="1700" dirty="0"/>
          </a:p>
        </p:txBody>
      </p:sp>
      <p:sp>
        <p:nvSpPr>
          <p:cNvPr id="32" name="card-212"/>
          <p:cNvSpPr/>
          <p:nvPr/>
        </p:nvSpPr>
        <p:spPr>
          <a:xfrm>
            <a:off x="8970264" y="37947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3" name="badge-213"/>
          <p:cNvSpPr/>
          <p:nvPr/>
        </p:nvSpPr>
        <p:spPr>
          <a:xfrm>
            <a:off x="9198864" y="4023360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badge-t-214"/>
          <p:cNvSpPr txBox="1"/>
          <p:nvPr/>
        </p:nvSpPr>
        <p:spPr>
          <a:xfrm>
            <a:off x="9198864" y="40233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step-215"/>
          <p:cNvSpPr txBox="1"/>
          <p:nvPr/>
        </p:nvSpPr>
        <p:spPr>
          <a:xfrm>
            <a:off x="9198864" y="47548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Integrate, test and compare ML vs baseline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640080" y="21031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q"/>
          <p:cNvSpPr txBox="1"/>
          <p:nvPr/>
        </p:nvSpPr>
        <p:spPr>
          <a:xfrm>
            <a:off x="640080" y="3429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chemeClr val="accent1"/>
                </a:solidFill>
              </a:rPr>
              <a:t>Questions and suggestions are welcome</a:t>
            </a:r>
            <a:endParaRPr lang="en-US" sz="2000" dirty="0"/>
          </a:p>
        </p:txBody>
      </p:sp>
      <p:sp>
        <p:nvSpPr>
          <p:cNvPr id="4" name="credits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3E6"/>
                </a:solidFill>
              </a:rPr>
              <a:t>Deta Jonah Ratan  •  Madhavaram Vineel  •  Pasnoori Abhinay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3E6"/>
                </a:solidFill>
              </a:rPr>
              <a:t>Guide: Ms. A. Swapna, Assistant Professor, Dept. of ET, MGIT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IT Cable Fault">
  <a:themeElements>
    <a:clrScheme name="MGIT Cable Fault">
      <a:dk1>
        <a:srgbClr val="1B2A4A"/>
      </a:dk1>
      <a:lt1>
        <a:srgbClr val="FFFFFF"/>
      </a:lt1>
      <a:dk2>
        <a:srgbClr val="14213D"/>
      </a:dk2>
      <a:lt2>
        <a:srgbClr val="EEF2F8"/>
      </a:lt2>
      <a:accent1>
        <a:srgbClr val="F2B705"/>
      </a:accent1>
      <a:accent2>
        <a:srgbClr val="2E5AAC"/>
      </a:accent2>
      <a:accent3>
        <a:srgbClr val="2E9D6A"/>
      </a:accent3>
      <a:accent4>
        <a:srgbClr val="C0392B"/>
      </a:accent4>
      <a:accent5>
        <a:srgbClr val="6D28D9"/>
      </a:accent5>
      <a:accent6>
        <a:srgbClr val="8A94A6"/>
      </a:accent6>
      <a:hlink>
        <a:srgbClr val="2E5AAC"/>
      </a:hlink>
      <a:folHlink>
        <a:srgbClr val="6D28D9"/>
      </a:folHlink>
    </a:clrScheme>
    <a:fontScheme name="MGIT Cable Fau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Underground Cable Fault Detection and Remote Monitoring</dc:title>
  <dc:subject>Project Stage-1 Review</dc:subject>
  <dc:creator>Deta Jonah Ratan, Madhavaram Vineel, Pasnoori Abhinay</dc:creator>
  <cp:lastModifiedBy>Deta Jonah Ratan, Madhavaram Vineel, Pasnoori Abhinay</cp:lastModifiedBy>
  <cp:revision>1</cp:revision>
  <dcterms:created xsi:type="dcterms:W3CDTF">2026-10-25T19:35:33Z</dcterms:created>
  <dcterms:modified xsi:type="dcterms:W3CDTF">2026-10-25T19:35:33Z</dcterms:modified>
</cp:coreProperties>
</file>