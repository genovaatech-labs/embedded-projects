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51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45668" y="6386169"/>
            <a:ext cx="206502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8599AB"/>
                </a:solidFill>
                <a:latin typeface="Aptos"/>
                <a:cs typeface="Aptos"/>
              </a:defRPr>
            </a:lvl1pPr>
          </a:lstStyle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00" spc="-10" b="1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dirty="0" sz="750" spc="-20" b="1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5668" y="1142238"/>
            <a:ext cx="1083945" cy="215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 spc="-20" b="1">
                <a:solidFill>
                  <a:srgbClr val="00BEFF"/>
                </a:solidFill>
                <a:latin typeface="Aptos"/>
                <a:cs typeface="Aptos"/>
              </a:rPr>
              <a:t>PROJECT</a:t>
            </a:r>
            <a:r>
              <a:rPr dirty="0" sz="1250" b="1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dirty="0" sz="1250" spc="-10" b="1">
                <a:solidFill>
                  <a:srgbClr val="00BEFF"/>
                </a:solidFill>
                <a:latin typeface="Aptos"/>
                <a:cs typeface="Aptos"/>
              </a:rPr>
              <a:t>TITLE</a:t>
            </a:r>
            <a:endParaRPr sz="1250">
              <a:latin typeface="Aptos"/>
              <a:cs typeface="Apto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5695" y="1562100"/>
            <a:ext cx="131445" cy="1983105"/>
            <a:chOff x="615695" y="1562100"/>
            <a:chExt cx="131445" cy="198310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695" y="1562100"/>
              <a:ext cx="131114" cy="198272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367" y="1581911"/>
              <a:ext cx="50800" cy="1902460"/>
            </a:xfrm>
            <a:custGeom>
              <a:avLst/>
              <a:gdLst/>
              <a:ahLst/>
              <a:cxnLst/>
              <a:rect l="l" t="t" r="r" b="b"/>
              <a:pathLst>
                <a:path w="50800" h="1902460">
                  <a:moveTo>
                    <a:pt x="50292" y="0"/>
                  </a:moveTo>
                  <a:lnTo>
                    <a:pt x="0" y="0"/>
                  </a:lnTo>
                  <a:lnTo>
                    <a:pt x="0" y="1901952"/>
                  </a:lnTo>
                  <a:lnTo>
                    <a:pt x="50292" y="1901952"/>
                  </a:lnTo>
                  <a:lnTo>
                    <a:pt x="502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" name="object 3"/>
          <p:cNvSpPr txBox="1"/>
          <p:nvPr/>
        </p:nvSpPr>
        <p:spPr>
          <a:xfrm>
            <a:off x="791972" y="1890522"/>
            <a:ext cx="5485765" cy="1329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Edge</a:t>
            </a:r>
            <a:r>
              <a:rPr dirty="0" sz="2850" spc="-3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–</a:t>
            </a:r>
            <a:r>
              <a:rPr dirty="0" sz="2850" spc="-4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AI</a:t>
            </a:r>
            <a:r>
              <a:rPr dirty="0" sz="2850" spc="-50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Based</a:t>
            </a:r>
            <a:r>
              <a:rPr dirty="0" sz="2850" spc="-3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spc="-10" b="1">
                <a:solidFill>
                  <a:srgbClr val="F5F8FB"/>
                </a:solidFill>
                <a:latin typeface="Aptos"/>
                <a:cs typeface="Aptos"/>
              </a:rPr>
              <a:t>Transformer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Health</a:t>
            </a:r>
            <a:r>
              <a:rPr dirty="0" sz="2850" spc="-50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Monitoring</a:t>
            </a:r>
            <a:r>
              <a:rPr dirty="0" sz="2850" spc="-5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and</a:t>
            </a:r>
            <a:r>
              <a:rPr dirty="0" sz="2850" spc="-20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b="1">
                <a:solidFill>
                  <a:srgbClr val="F5F8FB"/>
                </a:solidFill>
                <a:latin typeface="Aptos"/>
                <a:cs typeface="Aptos"/>
              </a:rPr>
              <a:t>Early</a:t>
            </a:r>
            <a:r>
              <a:rPr dirty="0" sz="2850" spc="-3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spc="-10" b="1">
                <a:solidFill>
                  <a:srgbClr val="F5F8FB"/>
                </a:solidFill>
                <a:latin typeface="Aptos"/>
                <a:cs typeface="Aptos"/>
              </a:rPr>
              <a:t>Fault Prediction</a:t>
            </a:r>
            <a:r>
              <a:rPr dirty="0" sz="2850" spc="-50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2850" spc="-10" b="1">
                <a:solidFill>
                  <a:srgbClr val="F5F8FB"/>
                </a:solidFill>
                <a:latin typeface="Aptos"/>
                <a:cs typeface="Aptos"/>
              </a:rPr>
              <a:t>System</a:t>
            </a:r>
            <a:endParaRPr sz="2850">
              <a:latin typeface="Aptos"/>
              <a:cs typeface="Apto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972" y="3833241"/>
            <a:ext cx="4972685" cy="2120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Embedded</a:t>
            </a: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Systems</a:t>
            </a:r>
            <a:r>
              <a:rPr dirty="0" sz="1200" spc="25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•</a:t>
            </a:r>
            <a:r>
              <a:rPr dirty="0" sz="1200" spc="30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IoT</a:t>
            </a:r>
            <a:r>
              <a:rPr dirty="0" sz="1200" spc="29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•</a:t>
            </a:r>
            <a:r>
              <a:rPr dirty="0" sz="1200" spc="29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Embedded</a:t>
            </a:r>
            <a:r>
              <a:rPr dirty="0" sz="1200" spc="-2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AI</a:t>
            </a:r>
            <a:r>
              <a:rPr dirty="0" sz="1200" spc="30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•</a:t>
            </a:r>
            <a:r>
              <a:rPr dirty="0" sz="1200" spc="29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Electrical</a:t>
            </a:r>
            <a:r>
              <a:rPr dirty="0" sz="1200" spc="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and</a:t>
            </a:r>
            <a:r>
              <a:rPr dirty="0" sz="1200" spc="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200" spc="-10" b="1">
                <a:solidFill>
                  <a:srgbClr val="FFEA00"/>
                </a:solidFill>
                <a:latin typeface="Aptos"/>
                <a:cs typeface="Aptos"/>
              </a:rPr>
              <a:t>Electronics</a:t>
            </a:r>
            <a:endParaRPr sz="1200">
              <a:latin typeface="Aptos"/>
              <a:cs typeface="Apto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62000" y="4350962"/>
            <a:ext cx="5339080" cy="97790"/>
            <a:chOff x="762000" y="4350962"/>
            <a:chExt cx="5339080" cy="9779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000" y="4350962"/>
              <a:ext cx="5338572" cy="9746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04671" y="4370882"/>
              <a:ext cx="5257800" cy="16510"/>
            </a:xfrm>
            <a:custGeom>
              <a:avLst/>
              <a:gdLst/>
              <a:ahLst/>
              <a:cxnLst/>
              <a:rect l="l" t="t" r="r" b="b"/>
              <a:pathLst>
                <a:path w="5257800" h="16510">
                  <a:moveTo>
                    <a:pt x="5257800" y="0"/>
                  </a:moveTo>
                  <a:lnTo>
                    <a:pt x="0" y="0"/>
                  </a:lnTo>
                  <a:lnTo>
                    <a:pt x="0" y="16459"/>
                  </a:lnTo>
                  <a:lnTo>
                    <a:pt x="5257800" y="16459"/>
                  </a:lnTo>
                  <a:lnTo>
                    <a:pt x="5257800" y="0"/>
                  </a:lnTo>
                  <a:close/>
                </a:path>
              </a:pathLst>
            </a:custGeom>
            <a:solidFill>
              <a:srgbClr val="273D5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791972" y="4659629"/>
            <a:ext cx="4441825" cy="6438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00" b="1">
                <a:solidFill>
                  <a:srgbClr val="F5F8FB"/>
                </a:solidFill>
                <a:latin typeface="Aptos"/>
                <a:cs typeface="Aptos"/>
              </a:rPr>
              <a:t>Predictive</a:t>
            </a:r>
            <a:r>
              <a:rPr dirty="0" sz="1600" spc="-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1600" b="1">
                <a:solidFill>
                  <a:srgbClr val="F5F8FB"/>
                </a:solidFill>
                <a:latin typeface="Aptos"/>
                <a:cs typeface="Aptos"/>
              </a:rPr>
              <a:t>Maintenance</a:t>
            </a:r>
            <a:r>
              <a:rPr dirty="0" sz="1600" spc="3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1600" b="1">
                <a:solidFill>
                  <a:srgbClr val="F5F8FB"/>
                </a:solidFill>
                <a:latin typeface="Aptos"/>
                <a:cs typeface="Aptos"/>
              </a:rPr>
              <a:t>Using</a:t>
            </a:r>
            <a:r>
              <a:rPr dirty="0" sz="1600" spc="1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1600" b="1">
                <a:solidFill>
                  <a:srgbClr val="F5F8FB"/>
                </a:solidFill>
                <a:latin typeface="Aptos"/>
                <a:cs typeface="Aptos"/>
              </a:rPr>
              <a:t>Edge</a:t>
            </a:r>
            <a:r>
              <a:rPr dirty="0" sz="1600" spc="10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1600" spc="-10" b="1">
                <a:solidFill>
                  <a:srgbClr val="F5F8FB"/>
                </a:solidFill>
                <a:latin typeface="Aptos"/>
                <a:cs typeface="Aptos"/>
              </a:rPr>
              <a:t>Intelligence</a:t>
            </a:r>
            <a:endParaRPr sz="160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MONITOR</a:t>
            </a:r>
            <a:r>
              <a:rPr dirty="0" sz="1050" spc="175" b="1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dirty="0" sz="1050" spc="195" b="1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DETECT</a:t>
            </a:r>
            <a:r>
              <a:rPr dirty="0" sz="1050" spc="190" b="1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dirty="0" sz="1050" spc="190" b="1">
                <a:solidFill>
                  <a:srgbClr val="00BEFF"/>
                </a:solidFill>
                <a:latin typeface="Aptos"/>
                <a:cs typeface="Aptos"/>
              </a:rPr>
              <a:t> </a:t>
            </a:r>
            <a:r>
              <a:rPr dirty="0" sz="1050" spc="-10" b="1">
                <a:solidFill>
                  <a:srgbClr val="00BEFF"/>
                </a:solidFill>
                <a:latin typeface="Aptos"/>
                <a:cs typeface="Aptos"/>
              </a:rPr>
              <a:t>PREDICT</a:t>
            </a:r>
            <a:endParaRPr sz="1050">
              <a:latin typeface="Aptos"/>
              <a:cs typeface="Aptos"/>
            </a:endParaRPr>
          </a:p>
        </p:txBody>
      </p:sp>
      <p:pic>
        <p:nvPicPr>
          <p:cNvPr id="19" name="object 19" descr="image-5e8cb8fb5f59b3fa0ee41d3f6c88fab3.png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37959" y="1225296"/>
            <a:ext cx="5440679" cy="390461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8993885" y="5391150"/>
            <a:ext cx="2492375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EDGE</a:t>
            </a:r>
            <a:r>
              <a:rPr dirty="0" sz="1000" spc="3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INTELLIGENCE</a:t>
            </a:r>
            <a:r>
              <a:rPr dirty="0" sz="1000" spc="70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FOR</a:t>
            </a:r>
            <a:r>
              <a:rPr dirty="0" sz="1000" spc="2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POWER</a:t>
            </a:r>
            <a:r>
              <a:rPr dirty="0" sz="1000" spc="3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spc="-10" b="1">
                <a:solidFill>
                  <a:srgbClr val="8599AB"/>
                </a:solidFill>
                <a:latin typeface="Aptos"/>
                <a:cs typeface="Aptos"/>
              </a:rPr>
              <a:t>ASSETS</a:t>
            </a:r>
            <a:endParaRPr sz="1000">
              <a:latin typeface="Aptos"/>
              <a:cs typeface="Apto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15695" y="6179815"/>
            <a:ext cx="10962640" cy="92075"/>
            <a:chOff x="615695" y="6179815"/>
            <a:chExt cx="10962640" cy="9207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695" y="6179815"/>
              <a:ext cx="10962132" cy="9164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00" spc="-10" b="1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dirty="0" sz="750" spc="-20" b="1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668" y="806666"/>
            <a:ext cx="3622040" cy="81788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50" spc="-25" b="1">
                <a:solidFill>
                  <a:srgbClr val="00BEFF"/>
                </a:solidFill>
                <a:latin typeface="Aptos"/>
                <a:cs typeface="Aptos"/>
              </a:rPr>
              <a:t>01</a:t>
            </a:r>
            <a:endParaRPr sz="145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3200" b="1">
                <a:solidFill>
                  <a:srgbClr val="F5F8FB"/>
                </a:solidFill>
                <a:latin typeface="Aptos"/>
                <a:cs typeface="Aptos"/>
              </a:rPr>
              <a:t>Problem</a:t>
            </a:r>
            <a:r>
              <a:rPr dirty="0" sz="3200" spc="-105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sz="3200" spc="-10" b="1">
                <a:solidFill>
                  <a:srgbClr val="F5F8FB"/>
                </a:solidFill>
                <a:latin typeface="Aptos"/>
                <a:cs typeface="Aptos"/>
              </a:rPr>
              <a:t>Statement</a:t>
            </a:r>
            <a:endParaRPr sz="3200">
              <a:latin typeface="Aptos"/>
              <a:cs typeface="Apt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3405" y="1247901"/>
            <a:ext cx="336550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TRANSFORMER</a:t>
            </a:r>
            <a:r>
              <a:rPr dirty="0" sz="1000" spc="240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/</a:t>
            </a:r>
            <a:r>
              <a:rPr dirty="0" sz="1000" spc="24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EDGE</a:t>
            </a:r>
            <a:r>
              <a:rPr dirty="0" sz="1000" spc="3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AI</a:t>
            </a:r>
            <a:r>
              <a:rPr dirty="0" sz="1000" spc="23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/</a:t>
            </a:r>
            <a:r>
              <a:rPr dirty="0" sz="1000" spc="254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PREDICTIVE</a:t>
            </a:r>
            <a:r>
              <a:rPr dirty="0" sz="1000" spc="20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spc="-10" b="1">
                <a:solidFill>
                  <a:srgbClr val="8599AB"/>
                </a:solidFill>
                <a:latin typeface="Aptos"/>
                <a:cs typeface="Aptos"/>
              </a:rPr>
              <a:t>MAINTENANCE</a:t>
            </a:r>
            <a:endParaRPr sz="1000">
              <a:latin typeface="Aptos"/>
              <a:cs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5695" y="1754073"/>
            <a:ext cx="1160145" cy="131445"/>
            <a:chOff x="615695" y="1754073"/>
            <a:chExt cx="1160145" cy="13144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695" y="1754073"/>
              <a:ext cx="1159751" cy="131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8367" y="1773935"/>
              <a:ext cx="1079500" cy="50800"/>
            </a:xfrm>
            <a:custGeom>
              <a:avLst/>
              <a:gdLst/>
              <a:ahLst/>
              <a:cxnLst/>
              <a:rect l="l" t="t" r="r" b="b"/>
              <a:pathLst>
                <a:path w="1079500" h="50800">
                  <a:moveTo>
                    <a:pt x="1078992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1078992" y="5029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5668" y="1915794"/>
            <a:ext cx="3481704" cy="3756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TEMPERATURE</a:t>
            </a:r>
            <a:r>
              <a:rPr dirty="0" sz="1050" spc="170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dirty="0" sz="1050" spc="160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VOLTAGE</a:t>
            </a:r>
            <a:r>
              <a:rPr dirty="0" sz="1050" spc="160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dirty="0" sz="1050" spc="155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CURRENT</a:t>
            </a:r>
            <a:r>
              <a:rPr dirty="0" sz="1050" spc="150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·</a:t>
            </a:r>
            <a:r>
              <a:rPr dirty="0" sz="1050" spc="160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spc="-10" b="1">
                <a:solidFill>
                  <a:srgbClr val="00BEFF"/>
                </a:solidFill>
                <a:latin typeface="Aptos"/>
                <a:cs typeface="Aptos"/>
              </a:rPr>
              <a:t>VIBRATION</a:t>
            </a:r>
            <a:endParaRPr sz="105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5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01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	</a:t>
            </a:r>
            <a:r>
              <a:rPr dirty="0" baseline="2415" sz="1725" spc="-15" b="1">
                <a:solidFill>
                  <a:srgbClr val="F5F8FB"/>
                </a:solidFill>
                <a:latin typeface="Aptos"/>
                <a:cs typeface="Aptos"/>
              </a:rPr>
              <a:t>OPERATIONAL</a:t>
            </a:r>
            <a:r>
              <a:rPr dirty="0" baseline="2415" sz="1725" spc="67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baseline="2415" sz="1725" spc="-30" b="1">
                <a:solidFill>
                  <a:srgbClr val="F5F8FB"/>
                </a:solidFill>
                <a:latin typeface="Aptos"/>
                <a:cs typeface="Aptos"/>
              </a:rPr>
              <a:t>RISK</a:t>
            </a:r>
            <a:endParaRPr baseline="2415" sz="1725">
              <a:latin typeface="Aptos"/>
              <a:cs typeface="Aptos"/>
            </a:endParaRPr>
          </a:p>
          <a:p>
            <a:pPr marL="12700" marR="432434">
              <a:lnSpc>
                <a:spcPct val="114399"/>
              </a:lnSpc>
              <a:spcBef>
                <a:spcPts val="1155"/>
              </a:spcBef>
            </a:pP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Transformers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are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critical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components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of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electrical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power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systems,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and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unexpected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failures</a:t>
            </a:r>
            <a:r>
              <a:rPr dirty="0" sz="1450" spc="5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can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result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in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equipment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damage,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power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interruptions,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increased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maintenance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costs.</a:t>
            </a:r>
            <a:r>
              <a:rPr dirty="0" sz="1450" spc="6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Conventional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monitoring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methods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often</a:t>
            </a:r>
            <a:r>
              <a:rPr dirty="0" sz="1450" spc="4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rely</a:t>
            </a:r>
            <a:r>
              <a:rPr dirty="0" sz="1450" spc="6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on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periodic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inspections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6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individual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parameter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measurements,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making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it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difficult</a:t>
            </a:r>
            <a:r>
              <a:rPr dirty="0" sz="1450" spc="5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to</a:t>
            </a:r>
            <a:r>
              <a:rPr dirty="0" sz="1450" spc="5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continuously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identify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early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signs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of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abnormal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operating conditions.</a:t>
            </a:r>
            <a:endParaRPr sz="1450">
              <a:latin typeface="Aptos"/>
              <a:cs typeface="Apto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89832" y="2266188"/>
            <a:ext cx="92075" cy="3610610"/>
            <a:chOff x="3989832" y="2266188"/>
            <a:chExt cx="92075" cy="361061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9832" y="2266188"/>
              <a:ext cx="91648" cy="36103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2504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1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1" y="3529584"/>
                  </a:lnTo>
                  <a:lnTo>
                    <a:pt x="10971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30751" y="2280030"/>
            <a:ext cx="3084830" cy="23812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9265" algn="l"/>
              </a:tabLst>
            </a:pP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02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	</a:t>
            </a:r>
            <a:r>
              <a:rPr dirty="0" baseline="2415" sz="1725" spc="-15" b="1">
                <a:solidFill>
                  <a:srgbClr val="F5F8FB"/>
                </a:solidFill>
                <a:latin typeface="Aptos"/>
                <a:cs typeface="Aptos"/>
              </a:rPr>
              <a:t>MONITORING</a:t>
            </a:r>
            <a:r>
              <a:rPr dirty="0" baseline="2415" sz="1725" spc="37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baseline="2415" sz="1725" spc="-37" b="1">
                <a:solidFill>
                  <a:srgbClr val="F5F8FB"/>
                </a:solidFill>
                <a:latin typeface="Aptos"/>
                <a:cs typeface="Aptos"/>
              </a:rPr>
              <a:t>GAP</a:t>
            </a:r>
            <a:endParaRPr baseline="2415" sz="1725">
              <a:latin typeface="Aptos"/>
              <a:cs typeface="Aptos"/>
            </a:endParaRPr>
          </a:p>
          <a:p>
            <a:pPr marL="12700" marR="5080">
              <a:lnSpc>
                <a:spcPct val="114399"/>
              </a:lnSpc>
              <a:spcBef>
                <a:spcPts val="1155"/>
              </a:spcBef>
            </a:pP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There is a need for a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compact,</a:t>
            </a:r>
            <a:r>
              <a:rPr dirty="0" sz="1450" spc="-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spc="-20" b="1">
                <a:solidFill>
                  <a:srgbClr val="FFEA00"/>
                </a:solidFill>
                <a:latin typeface="Aptos"/>
                <a:cs typeface="Aptos"/>
              </a:rPr>
              <a:t>cost-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effective,</a:t>
            </a:r>
            <a:r>
              <a:rPr dirty="0" sz="1450" spc="6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and</a:t>
            </a:r>
            <a:r>
              <a:rPr dirty="0" sz="1450" spc="2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intelligent</a:t>
            </a:r>
            <a:r>
              <a:rPr dirty="0" sz="1450" spc="8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monitoring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system</a:t>
            </a:r>
            <a:r>
              <a:rPr dirty="0" sz="1450" spc="3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capable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of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continuously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observing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key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transformer</a:t>
            </a:r>
            <a:r>
              <a:rPr dirty="0" sz="1450" spc="6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parameters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such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as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temperature,</a:t>
            </a:r>
            <a:r>
              <a:rPr dirty="0" sz="1450" spc="5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voltage,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current,</a:t>
            </a:r>
            <a:r>
              <a:rPr dirty="0" sz="1450" spc="5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and</a:t>
            </a:r>
            <a:r>
              <a:rPr dirty="0" sz="1450" spc="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vibration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,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while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identifying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abnormal</a:t>
            </a:r>
            <a:r>
              <a:rPr dirty="0" sz="1450" spc="3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patterns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at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an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early</a:t>
            </a:r>
            <a:r>
              <a:rPr dirty="0" sz="1450" spc="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stage.</a:t>
            </a:r>
            <a:endParaRPr sz="1450">
              <a:latin typeface="Aptos"/>
              <a:cs typeface="Apto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4280" y="2266188"/>
            <a:ext cx="92075" cy="3610610"/>
            <a:chOff x="7574280" y="2266188"/>
            <a:chExt cx="92075" cy="361061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4280" y="2266188"/>
              <a:ext cx="91648" cy="361035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16952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2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2" y="3529584"/>
                  </a:lnTo>
                  <a:lnTo>
                    <a:pt x="10972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815453" y="2280030"/>
            <a:ext cx="3619500" cy="21285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9265" algn="l"/>
              </a:tabLst>
            </a:pP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03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	</a:t>
            </a:r>
            <a:r>
              <a:rPr dirty="0" baseline="2415" sz="1725" spc="-15" b="1">
                <a:solidFill>
                  <a:srgbClr val="F5F8FB"/>
                </a:solidFill>
                <a:latin typeface="Aptos"/>
                <a:cs typeface="Aptos"/>
              </a:rPr>
              <a:t>EDGE-</a:t>
            </a:r>
            <a:r>
              <a:rPr dirty="0" baseline="2415" sz="1725" b="1">
                <a:solidFill>
                  <a:srgbClr val="F5F8FB"/>
                </a:solidFill>
                <a:latin typeface="Aptos"/>
                <a:cs typeface="Aptos"/>
              </a:rPr>
              <a:t>AI</a:t>
            </a:r>
            <a:r>
              <a:rPr dirty="0" baseline="2415" sz="1725" spc="-22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baseline="2415" sz="1725" spc="-15" b="1">
                <a:solidFill>
                  <a:srgbClr val="F5F8FB"/>
                </a:solidFill>
                <a:latin typeface="Aptos"/>
                <a:cs typeface="Aptos"/>
              </a:rPr>
              <a:t>RESPONSE</a:t>
            </a:r>
            <a:endParaRPr baseline="2415" sz="1725">
              <a:latin typeface="Aptos"/>
              <a:cs typeface="Aptos"/>
            </a:endParaRPr>
          </a:p>
          <a:p>
            <a:pPr marL="12700" marR="5080">
              <a:lnSpc>
                <a:spcPct val="114399"/>
              </a:lnSpc>
              <a:spcBef>
                <a:spcPts val="1155"/>
              </a:spcBef>
            </a:pP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</a:t>
            </a:r>
            <a:r>
              <a:rPr dirty="0" sz="1450" spc="3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proposed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system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addresses</a:t>
            </a:r>
            <a:r>
              <a:rPr dirty="0" sz="1450" spc="6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this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challenge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by</a:t>
            </a:r>
            <a:r>
              <a:rPr dirty="0" sz="1450" spc="7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combining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multi-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parameter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sensing, embedded processing, and 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Edge-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AI</a:t>
            </a:r>
            <a:r>
              <a:rPr dirty="0" sz="1450" spc="2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to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enable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real-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time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transformer</a:t>
            </a:r>
            <a:r>
              <a:rPr dirty="0" sz="1450" spc="7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health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monitoring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early</a:t>
            </a:r>
            <a:r>
              <a:rPr dirty="0" sz="1450" spc="5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fault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detection 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with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reduced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dependence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on</a:t>
            </a:r>
            <a:r>
              <a:rPr dirty="0" sz="1450" spc="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cloud-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based processing.</a:t>
            </a:r>
            <a:endParaRPr sz="1450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695" y="6179815"/>
            <a:ext cx="10962640" cy="92075"/>
            <a:chOff x="615695" y="6179815"/>
            <a:chExt cx="10962640" cy="920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695" y="6179815"/>
              <a:ext cx="10962132" cy="91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49936" y="227114"/>
            <a:ext cx="410209" cy="391795"/>
            <a:chOff x="249936" y="227114"/>
            <a:chExt cx="410209" cy="3917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936" y="227114"/>
              <a:ext cx="409917" cy="39162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2608" y="246887"/>
              <a:ext cx="329184" cy="310895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82244" y="178971"/>
            <a:ext cx="1044575" cy="393065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100" spc="-10" b="1">
                <a:solidFill>
                  <a:srgbClr val="F5F8FB"/>
                </a:solidFill>
                <a:latin typeface="Aptos"/>
                <a:cs typeface="Aptos"/>
              </a:rPr>
              <a:t>GENOVAATECH</a:t>
            </a:r>
            <a:endParaRPr sz="1100">
              <a:latin typeface="Aptos"/>
              <a:cs typeface="Aptos"/>
            </a:endParaRPr>
          </a:p>
          <a:p>
            <a:pPr marL="21590">
              <a:lnSpc>
                <a:spcPct val="100000"/>
              </a:lnSpc>
              <a:spcBef>
                <a:spcPts val="280"/>
              </a:spcBef>
            </a:pPr>
            <a:r>
              <a:rPr dirty="0" sz="750" spc="-20" b="1">
                <a:solidFill>
                  <a:srgbClr val="00BEFF"/>
                </a:solidFill>
                <a:latin typeface="Aptos"/>
                <a:cs typeface="Aptos"/>
              </a:rPr>
              <a:t>LABS</a:t>
            </a:r>
            <a:endParaRPr sz="750">
              <a:latin typeface="Aptos"/>
              <a:cs typeface="Apto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5668" y="806666"/>
            <a:ext cx="1600200" cy="81788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450" spc="-25" b="1">
                <a:solidFill>
                  <a:srgbClr val="00BEFF"/>
                </a:solidFill>
                <a:latin typeface="Aptos"/>
                <a:cs typeface="Aptos"/>
              </a:rPr>
              <a:t>02</a:t>
            </a:r>
            <a:endParaRPr sz="145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3200" spc="-10" b="1">
                <a:solidFill>
                  <a:srgbClr val="F5F8FB"/>
                </a:solidFill>
                <a:latin typeface="Aptos"/>
                <a:cs typeface="Aptos"/>
              </a:rPr>
              <a:t>Abstract</a:t>
            </a:r>
            <a:endParaRPr sz="3200">
              <a:latin typeface="Aptos"/>
              <a:cs typeface="Apto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93405" y="1247901"/>
            <a:ext cx="3365500" cy="1809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TRANSFORMER</a:t>
            </a:r>
            <a:r>
              <a:rPr dirty="0" sz="1000" spc="240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/</a:t>
            </a:r>
            <a:r>
              <a:rPr dirty="0" sz="1000" spc="24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EDGE</a:t>
            </a:r>
            <a:r>
              <a:rPr dirty="0" sz="1000" spc="3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AI</a:t>
            </a:r>
            <a:r>
              <a:rPr dirty="0" sz="1000" spc="235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/</a:t>
            </a:r>
            <a:r>
              <a:rPr dirty="0" sz="1000" spc="254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b="1">
                <a:solidFill>
                  <a:srgbClr val="8599AB"/>
                </a:solidFill>
                <a:latin typeface="Aptos"/>
                <a:cs typeface="Aptos"/>
              </a:rPr>
              <a:t>PREDICTIVE</a:t>
            </a:r>
            <a:r>
              <a:rPr dirty="0" sz="1000" spc="20" b="1">
                <a:solidFill>
                  <a:srgbClr val="8599AB"/>
                </a:solidFill>
                <a:latin typeface="Aptos"/>
                <a:cs typeface="Aptos"/>
              </a:rPr>
              <a:t> </a:t>
            </a:r>
            <a:r>
              <a:rPr dirty="0" sz="1000" spc="-10" b="1">
                <a:solidFill>
                  <a:srgbClr val="8599AB"/>
                </a:solidFill>
                <a:latin typeface="Aptos"/>
                <a:cs typeface="Aptos"/>
              </a:rPr>
              <a:t>MAINTENANCE</a:t>
            </a:r>
            <a:endParaRPr sz="1000">
              <a:latin typeface="Aptos"/>
              <a:cs typeface="Apto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5695" y="1754073"/>
            <a:ext cx="1160145" cy="131445"/>
            <a:chOff x="615695" y="1754073"/>
            <a:chExt cx="1160145" cy="13144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5695" y="1754073"/>
              <a:ext cx="1159751" cy="1311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58367" y="1773935"/>
              <a:ext cx="1079500" cy="50800"/>
            </a:xfrm>
            <a:custGeom>
              <a:avLst/>
              <a:gdLst/>
              <a:ahLst/>
              <a:cxnLst/>
              <a:rect l="l" t="t" r="r" b="b"/>
              <a:pathLst>
                <a:path w="1079500" h="50800">
                  <a:moveTo>
                    <a:pt x="1078992" y="0"/>
                  </a:moveTo>
                  <a:lnTo>
                    <a:pt x="0" y="0"/>
                  </a:lnTo>
                  <a:lnTo>
                    <a:pt x="0" y="50291"/>
                  </a:lnTo>
                  <a:lnTo>
                    <a:pt x="1078992" y="50291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EA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45668" y="1915794"/>
            <a:ext cx="3180080" cy="29679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SENSE</a:t>
            </a:r>
            <a:r>
              <a:rPr dirty="0" sz="1050" spc="145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/</a:t>
            </a:r>
            <a:r>
              <a:rPr dirty="0" sz="1050" spc="145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PROCESS</a:t>
            </a:r>
            <a:r>
              <a:rPr dirty="0" sz="1050" spc="155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b="1">
                <a:solidFill>
                  <a:srgbClr val="00BEFF"/>
                </a:solidFill>
                <a:latin typeface="Aptos"/>
                <a:cs typeface="Aptos"/>
              </a:rPr>
              <a:t>/</a:t>
            </a:r>
            <a:r>
              <a:rPr dirty="0" sz="1050" spc="145" b="1">
                <a:solidFill>
                  <a:srgbClr val="00BEFF"/>
                </a:solidFill>
                <a:latin typeface="Aptos"/>
                <a:cs typeface="Aptos"/>
              </a:rPr>
              <a:t>  </a:t>
            </a:r>
            <a:r>
              <a:rPr dirty="0" sz="1050" spc="-10" b="1">
                <a:solidFill>
                  <a:srgbClr val="00BEFF"/>
                </a:solidFill>
                <a:latin typeface="Aptos"/>
                <a:cs typeface="Aptos"/>
              </a:rPr>
              <a:t>PREDICT</a:t>
            </a:r>
            <a:endParaRPr sz="1050">
              <a:latin typeface="Aptos"/>
              <a:cs typeface="Apto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50">
              <a:latin typeface="Aptos"/>
              <a:cs typeface="Aptos"/>
            </a:endParaRPr>
          </a:p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01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	</a:t>
            </a:r>
            <a:r>
              <a:rPr dirty="0" baseline="2415" sz="1725" b="1">
                <a:solidFill>
                  <a:srgbClr val="F5F8FB"/>
                </a:solidFill>
                <a:latin typeface="Aptos"/>
                <a:cs typeface="Aptos"/>
              </a:rPr>
              <a:t>SYSTEM</a:t>
            </a:r>
            <a:r>
              <a:rPr dirty="0" baseline="2415" sz="1725" spc="-37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baseline="2415" sz="1725" spc="-30" b="1">
                <a:solidFill>
                  <a:srgbClr val="F5F8FB"/>
                </a:solidFill>
                <a:latin typeface="Aptos"/>
                <a:cs typeface="Aptos"/>
              </a:rPr>
              <a:t>CORE</a:t>
            </a:r>
            <a:endParaRPr baseline="2415" sz="1725">
              <a:latin typeface="Aptos"/>
              <a:cs typeface="Aptos"/>
            </a:endParaRPr>
          </a:p>
          <a:p>
            <a:pPr marL="12700" marR="5080">
              <a:lnSpc>
                <a:spcPct val="112799"/>
              </a:lnSpc>
              <a:spcBef>
                <a:spcPts val="1170"/>
              </a:spcBef>
            </a:pP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This project presents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Edge-AI</a:t>
            </a:r>
            <a:r>
              <a:rPr dirty="0" sz="1450" spc="-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Based Transformer</a:t>
            </a:r>
            <a:r>
              <a:rPr dirty="0" sz="1450" spc="-3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Health</a:t>
            </a:r>
            <a:r>
              <a:rPr dirty="0" sz="1450" spc="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Monitoring </a:t>
            </a:r>
            <a:r>
              <a:rPr dirty="0" sz="1450" spc="-25" b="1">
                <a:solidFill>
                  <a:srgbClr val="FFEA00"/>
                </a:solidFill>
                <a:latin typeface="Aptos"/>
                <a:cs typeface="Aptos"/>
              </a:rPr>
              <a:t>and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Early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Fault Prediction</a:t>
            </a:r>
            <a:r>
              <a:rPr dirty="0" sz="1450" spc="-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System</a:t>
            </a:r>
            <a:r>
              <a:rPr dirty="0" sz="1450" spc="-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for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real-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time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assessment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of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transformer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operating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conditions.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</a:t>
            </a:r>
            <a:r>
              <a:rPr dirty="0" sz="1450" spc="-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ESP32-</a:t>
            </a:r>
            <a:r>
              <a:rPr dirty="0" sz="1450" spc="-25" b="1">
                <a:solidFill>
                  <a:srgbClr val="FFEA00"/>
                </a:solidFill>
                <a:latin typeface="Aptos"/>
                <a:cs typeface="Aptos"/>
              </a:rPr>
              <a:t>S3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serves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as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edge-processing</a:t>
            </a:r>
            <a:r>
              <a:rPr dirty="0" sz="1450" spc="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platform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-3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interfaces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with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sensors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for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monitoring</a:t>
            </a:r>
            <a:r>
              <a:rPr dirty="0" sz="1450" spc="-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temperature,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voltage,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current,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-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vibration.</a:t>
            </a:r>
            <a:endParaRPr sz="1450">
              <a:latin typeface="Aptos"/>
              <a:cs typeface="Apto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89832" y="2266188"/>
            <a:ext cx="92075" cy="3610610"/>
            <a:chOff x="3989832" y="2266188"/>
            <a:chExt cx="92075" cy="3610610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9832" y="2266188"/>
              <a:ext cx="91648" cy="36103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032504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1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1" y="3529584"/>
                  </a:lnTo>
                  <a:lnTo>
                    <a:pt x="10971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30751" y="2280030"/>
            <a:ext cx="3212465" cy="285242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9265" algn="l"/>
              </a:tabLst>
            </a:pP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02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	</a:t>
            </a:r>
            <a:r>
              <a:rPr dirty="0" baseline="2415" sz="1725" b="1">
                <a:solidFill>
                  <a:srgbClr val="F5F8FB"/>
                </a:solidFill>
                <a:latin typeface="Aptos"/>
                <a:cs typeface="Aptos"/>
              </a:rPr>
              <a:t>LOCAL</a:t>
            </a:r>
            <a:r>
              <a:rPr dirty="0" baseline="2415" sz="1725" spc="-30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baseline="2415" sz="1725" spc="-15" b="1">
                <a:solidFill>
                  <a:srgbClr val="F5F8FB"/>
                </a:solidFill>
                <a:latin typeface="Aptos"/>
                <a:cs typeface="Aptos"/>
              </a:rPr>
              <a:t>INTELLIGENCE</a:t>
            </a:r>
            <a:endParaRPr baseline="2415" sz="1725">
              <a:latin typeface="Aptos"/>
              <a:cs typeface="Aptos"/>
            </a:endParaRPr>
          </a:p>
          <a:p>
            <a:pPr marL="12700" marR="5080">
              <a:lnSpc>
                <a:spcPct val="112799"/>
              </a:lnSpc>
              <a:spcBef>
                <a:spcPts val="1170"/>
              </a:spcBef>
            </a:pP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 acquired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sensor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data</a:t>
            </a:r>
            <a:r>
              <a:rPr dirty="0" sz="1450" spc="-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are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processed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locally</a:t>
            </a:r>
            <a:r>
              <a:rPr dirty="0" sz="1450" spc="-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through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signal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conditioning,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feature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extraction,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 and</a:t>
            </a:r>
            <a:r>
              <a:rPr dirty="0" sz="1450" spc="-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AI-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based</a:t>
            </a:r>
            <a:r>
              <a:rPr dirty="0" sz="1450" spc="50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analysis</a:t>
            </a:r>
            <a:r>
              <a:rPr dirty="0" sz="1450" spc="-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to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identify abnormal</a:t>
            </a:r>
            <a:r>
              <a:rPr dirty="0" sz="1450" spc="-3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operating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patterns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potential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faults.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By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performing</a:t>
            </a:r>
            <a:r>
              <a:rPr dirty="0" sz="1450" spc="-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data</a:t>
            </a:r>
            <a:r>
              <a:rPr dirty="0" sz="1450" spc="-3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processing</a:t>
            </a:r>
            <a:r>
              <a:rPr dirty="0" sz="1450" spc="-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and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inference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at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edge, the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system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reduces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dependency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on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continuous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cloud</a:t>
            </a:r>
            <a:r>
              <a:rPr dirty="0" sz="1450" spc="-3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connectivity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enables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faster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response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to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critical</a:t>
            </a:r>
            <a:r>
              <a:rPr dirty="0" sz="1450" spc="-3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changes.</a:t>
            </a:r>
            <a:endParaRPr sz="1450">
              <a:latin typeface="Aptos"/>
              <a:cs typeface="Apto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574280" y="2266188"/>
            <a:ext cx="92075" cy="3610610"/>
            <a:chOff x="7574280" y="2266188"/>
            <a:chExt cx="92075" cy="361061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4280" y="2266188"/>
              <a:ext cx="91648" cy="361035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616952" y="2286000"/>
              <a:ext cx="11430" cy="3529965"/>
            </a:xfrm>
            <a:custGeom>
              <a:avLst/>
              <a:gdLst/>
              <a:ahLst/>
              <a:cxnLst/>
              <a:rect l="l" t="t" r="r" b="b"/>
              <a:pathLst>
                <a:path w="11429" h="3529965">
                  <a:moveTo>
                    <a:pt x="10972" y="0"/>
                  </a:moveTo>
                  <a:lnTo>
                    <a:pt x="0" y="0"/>
                  </a:lnTo>
                  <a:lnTo>
                    <a:pt x="0" y="3529584"/>
                  </a:lnTo>
                  <a:lnTo>
                    <a:pt x="10972" y="3529584"/>
                  </a:lnTo>
                  <a:lnTo>
                    <a:pt x="10972" y="0"/>
                  </a:lnTo>
                  <a:close/>
                </a:path>
              </a:pathLst>
            </a:custGeom>
            <a:solidFill>
              <a:srgbClr val="2439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815453" y="2280030"/>
            <a:ext cx="3639820" cy="26041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9265" algn="l"/>
              </a:tabLst>
            </a:pPr>
            <a:r>
              <a:rPr dirty="0" sz="1200" spc="-25" b="1">
                <a:solidFill>
                  <a:srgbClr val="FFEA00"/>
                </a:solidFill>
                <a:latin typeface="Aptos"/>
                <a:cs typeface="Aptos"/>
              </a:rPr>
              <a:t>03</a:t>
            </a:r>
            <a:r>
              <a:rPr dirty="0" sz="1200" b="1">
                <a:solidFill>
                  <a:srgbClr val="FFEA00"/>
                </a:solidFill>
                <a:latin typeface="Aptos"/>
                <a:cs typeface="Aptos"/>
              </a:rPr>
              <a:t>	</a:t>
            </a:r>
            <a:r>
              <a:rPr dirty="0" baseline="2415" sz="1725" b="1">
                <a:solidFill>
                  <a:srgbClr val="F5F8FB"/>
                </a:solidFill>
                <a:latin typeface="Aptos"/>
                <a:cs typeface="Aptos"/>
              </a:rPr>
              <a:t>SCALABLE</a:t>
            </a:r>
            <a:r>
              <a:rPr dirty="0" baseline="2415" sz="1725" spc="-67" b="1">
                <a:solidFill>
                  <a:srgbClr val="F5F8FB"/>
                </a:solidFill>
                <a:latin typeface="Aptos"/>
                <a:cs typeface="Aptos"/>
              </a:rPr>
              <a:t> </a:t>
            </a:r>
            <a:r>
              <a:rPr dirty="0" baseline="2415" sz="1725" spc="-30" b="1">
                <a:solidFill>
                  <a:srgbClr val="F5F8FB"/>
                </a:solidFill>
                <a:latin typeface="Aptos"/>
                <a:cs typeface="Aptos"/>
              </a:rPr>
              <a:t>PATH</a:t>
            </a:r>
            <a:endParaRPr baseline="2415" sz="1725">
              <a:latin typeface="Aptos"/>
              <a:cs typeface="Aptos"/>
            </a:endParaRPr>
          </a:p>
          <a:p>
            <a:pPr marL="12700" marR="5080">
              <a:lnSpc>
                <a:spcPct val="112799"/>
              </a:lnSpc>
              <a:spcBef>
                <a:spcPts val="1170"/>
              </a:spcBef>
            </a:pP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proposed solution</a:t>
            </a:r>
            <a:r>
              <a:rPr dirty="0" sz="1450" spc="-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provides a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 b="1">
                <a:solidFill>
                  <a:srgbClr val="FFEA00"/>
                </a:solidFill>
                <a:latin typeface="Aptos"/>
                <a:cs typeface="Aptos"/>
              </a:rPr>
              <a:t>compact,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low-cost,</a:t>
            </a:r>
            <a:r>
              <a:rPr dirty="0" sz="1450" spc="-20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and</a:t>
            </a:r>
            <a:r>
              <a:rPr dirty="0" sz="1450" spc="-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scalable</a:t>
            </a:r>
            <a:r>
              <a:rPr dirty="0" sz="1450" spc="-2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b="1">
                <a:solidFill>
                  <a:srgbClr val="FFEA00"/>
                </a:solidFill>
                <a:latin typeface="Aptos"/>
                <a:cs typeface="Aptos"/>
              </a:rPr>
              <a:t>approach</a:t>
            </a:r>
            <a:r>
              <a:rPr dirty="0" sz="1450" spc="-35" b="1">
                <a:solidFill>
                  <a:srgbClr val="FFEA00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for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intelligent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transformer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condition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monitoring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predictive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maintenance.</a:t>
            </a:r>
            <a:r>
              <a:rPr dirty="0" sz="1450" spc="-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The system</a:t>
            </a:r>
            <a:r>
              <a:rPr dirty="0" sz="1450" spc="1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can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be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further</a:t>
            </a:r>
            <a:r>
              <a:rPr dirty="0" sz="1450" spc="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extended</a:t>
            </a:r>
            <a:r>
              <a:rPr dirty="0" sz="1450" spc="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with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additional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parameters,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larger</a:t>
            </a:r>
            <a:r>
              <a:rPr dirty="0" sz="1450" spc="-5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fault</a:t>
            </a:r>
            <a:r>
              <a:rPr dirty="0" sz="1450" spc="-5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datasets,</a:t>
            </a:r>
            <a:r>
              <a:rPr dirty="0" sz="1450" spc="-4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remote dashboards,</a:t>
            </a:r>
            <a:r>
              <a:rPr dirty="0" sz="1450" spc="2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and</a:t>
            </a:r>
            <a:r>
              <a:rPr dirty="0" sz="1450" spc="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advanced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machine-learning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models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for</a:t>
            </a:r>
            <a:r>
              <a:rPr dirty="0" sz="1450" spc="-2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improved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fault</a:t>
            </a:r>
            <a:r>
              <a:rPr dirty="0" sz="1450" spc="-45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>
                <a:solidFill>
                  <a:srgbClr val="D3DFEA"/>
                </a:solidFill>
                <a:latin typeface="Aptos"/>
                <a:cs typeface="Aptos"/>
              </a:rPr>
              <a:t>classification</a:t>
            </a:r>
            <a:r>
              <a:rPr dirty="0" sz="1450" spc="-40">
                <a:solidFill>
                  <a:srgbClr val="D3DFEA"/>
                </a:solidFill>
                <a:latin typeface="Aptos"/>
                <a:cs typeface="Aptos"/>
              </a:rPr>
              <a:t> </a:t>
            </a:r>
            <a:r>
              <a:rPr dirty="0" sz="1450" spc="-25">
                <a:solidFill>
                  <a:srgbClr val="D3DFEA"/>
                </a:solidFill>
                <a:latin typeface="Aptos"/>
                <a:cs typeface="Aptos"/>
              </a:rPr>
              <a:t>and </a:t>
            </a:r>
            <a:r>
              <a:rPr dirty="0" sz="1450" spc="-10">
                <a:solidFill>
                  <a:srgbClr val="D3DFEA"/>
                </a:solidFill>
                <a:latin typeface="Aptos"/>
                <a:cs typeface="Aptos"/>
              </a:rPr>
              <a:t>prediction.</a:t>
            </a:r>
            <a:endParaRPr sz="1450">
              <a:latin typeface="Aptos"/>
              <a:cs typeface="Apto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5695" y="6179815"/>
            <a:ext cx="10962640" cy="92075"/>
            <a:chOff x="615695" y="6179815"/>
            <a:chExt cx="10962640" cy="9207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5695" y="6179815"/>
              <a:ext cx="10962132" cy="9164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58367" y="6199633"/>
              <a:ext cx="10881360" cy="11430"/>
            </a:xfrm>
            <a:custGeom>
              <a:avLst/>
              <a:gdLst/>
              <a:ahLst/>
              <a:cxnLst/>
              <a:rect l="l" t="t" r="r" b="b"/>
              <a:pathLst>
                <a:path w="10881360" h="11429">
                  <a:moveTo>
                    <a:pt x="10881360" y="0"/>
                  </a:moveTo>
                  <a:lnTo>
                    <a:pt x="0" y="0"/>
                  </a:lnTo>
                  <a:lnTo>
                    <a:pt x="0" y="10971"/>
                  </a:lnTo>
                  <a:lnTo>
                    <a:pt x="10881360" y="10971"/>
                  </a:lnTo>
                  <a:lnTo>
                    <a:pt x="10881360" y="0"/>
                  </a:lnTo>
                  <a:close/>
                </a:path>
              </a:pathLst>
            </a:custGeom>
            <a:solidFill>
              <a:srgbClr val="1F31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/>
              <a:t>GenovaaTech</a:t>
            </a:r>
            <a:r>
              <a:rPr dirty="0" spc="-10"/>
              <a:t> </a:t>
            </a:r>
            <a:r>
              <a:rPr dirty="0"/>
              <a:t>Labs</a:t>
            </a:r>
            <a:r>
              <a:rPr dirty="0" spc="150"/>
              <a:t> </a:t>
            </a:r>
            <a:r>
              <a:rPr dirty="0"/>
              <a:t>|</a:t>
            </a:r>
            <a:r>
              <a:rPr dirty="0" spc="150"/>
              <a:t> </a:t>
            </a:r>
            <a:r>
              <a:rPr dirty="0" spc="-10"/>
              <a:t>genovaatechlabs.com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Yugandhar</dc:creator>
  <dcterms:created xsi:type="dcterms:W3CDTF">2026-10-13T09:50:23Z</dcterms:created>
  <dcterms:modified xsi:type="dcterms:W3CDTF">2026-10-13T09:50:23Z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2026-09-30T00:00:00Z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2026-10-13T00:00:00Z</vt:filetime>
  </property>
  <property fmtid="{D5CDD505-2E9C-101B-9397-08002B2CF9AE}" pid="6" name="Producer">
    <vt:lpwstr>Microsoft® PowerPoint® for Microsoft 365</vt:lpwstr>
  </property>
</Properties>
</file>